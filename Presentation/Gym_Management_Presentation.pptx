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Problem description" id="{786f6118-280b-4328-0f6b-04f4d95fcd5e}">
          <p14:sldIdLst>
            <p14:sldId id="256"/>
            <p14:sldId id="257"/>
            <p14:sldId id="258"/>
          </p14:sldIdLst>
        </p14:section>
        <p14:section name="2. ER diagram and schema" id="{fc4f1cfc-06ed-049a-9728-6a2b778cf0b3}">
          <p14:sldIdLst>
            <p14:sldId id="259"/>
            <p14:sldId id="260"/>
            <p14:sldId id="261"/>
            <p14:sldId id="262"/>
          </p14:sldIdLst>
        </p14:section>
        <p14:section name="3. Database and queries" id="{fc51991d-9395-a1f6-1e44-ea24a03dcb2f}">
          <p14:sldIdLst>
            <p14:sldId id="263"/>
            <p14:sldId id="264"/>
            <p14:sldId id="265"/>
            <p14:sldId id="266"/>
          </p14:sldIdLst>
        </p14:section>
        <p14:section name="4. User interface demo" id="{532d2df7-58e7-008f-a9d4-76e4e87968f1}">
          <p14:sldIdLst>
            <p14:sldId id="267"/>
            <p14:sldId id="268"/>
            <p14:sldId id="269"/>
            <p14:sldId id="270"/>
          </p14:sldIdLst>
        </p14:section>
        <p14:section name="5. Conclusion and questions" id="{35c14293-de81-f1f0-06d3-9fd5212d9e7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15 seconds). Introduce the team and the title. Our project is number 67: a database management system for gym membership and fitness session management. We built a MySQL database of 7 tables and a Flask web interface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25 seconds). Problem statement: most small gyms keep member details, fee receipts and class lists in paper registers or separate spreadsheets. So the same member is written in several places, nobody knows whose plan has expired, and a class can be overbooked. Our system keeps all of this in one relational database. Intended users are the front desk, the manager, trainers and, indirectly, the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20 seconds). Read the objectives briefly: one normalised database, integrity enforced by the DBMS itself through keys and constraints, useful queries, and a working interface for insert, delete and view. Scope: memberships, payments, trainers, sessions and bookings. Online payment and login are outside the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45 seconds). Walk through the diagram. Rectangles are entities, diamonds are relationships, ovals are attributes and the underlined ones are primary keys. A MEMBER holds many MEMBERSHIPs over time; each membership is of exactly one MEMBERSHIP_PLAN and can have several PAYMENTs because we allow part payment. A TRAINER conducts many FITNESS_SESSIONs. MEMBER books FITNESS_SESSION is many-to-many: one member books many sessions and one session has many members. Double lines mean total participation, for example every payment must belong to a membership. Name is a composite attribute and age is derived from date of birth, so it is not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20 seconds). This table states each relationship. Four are one-to-many and one is many-to-many. Participation is total on the 'many' side wherever the child cannot exist without the parent: a payment without a membership or a session without a trainer makes no sense. It is partial on the other side: a new member may not have bought a plan yet, and a trainer may have no session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25 seconds). Mapping the ER diagram gives seven relations. Primary keys are underlined and foreign keys are shown in orange. Six entities give six tables, and the many-to-many BOOKS relationship gives the seventh table, BOOKING, which carries member_id and session_id as foreign keys with a UNIQUE constraint on the pair so a member cannot book the same session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30 seconds). We started from the single register a gym would keep, with member, plan, trainer and session details in one row. First normal form: we removed repeating groups, so one row per booking and name split into first and last name. Second normal form: with the key member plus session, the member's details depend only on the member and the session details only on the session, so we removed those partial dependencies into separate tables. Third normal form: plan price depends on plan, and trainer details depend on trainer, not on the key, so those transitive dependencies moved to MEMBERSHIP_PLAN and TRAINER. In the final schema every non-key attribute depends only on the primary key of its own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30 seconds, LIVE in MySQL). Run CREATE DATABASE and the CREATE TABLE statements from gym_management.sql. Point at the BOOKING table on the slide: primary key, two foreign keys with ON DELETE CASCADE, a UNIQUE constraint on member plus session, a CHECK on attendance and a DEFAULT. Then run SHOW TABLES and DESCRIBE booking. This slide is the backup if the live run has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20 seconds, LIVE). Run the INSERT statements and then the row-count query. Every table has at least five records: 6 plans, 8 members, 6 trainers, 8 memberships, 9 payments, 7 sessions and 15 bookings. The data was chosen so the queries are interesting: one member has no plan, one plan has never been sold, one session has no bookings and one membership is only part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30 seconds, LIVE). Run Q5. It joins BOOKING with MEMBER, FITNESS_SESSION and TRAINER, so instead of three id numbers we see the member's name, the session and the trainer. Then run Q6, a LEFT JOIN with COUNT: Power Yoga appears with zero seats booked, which an inner join would have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30 seconds, LIVE). Run Q7: revenue per plan using LEFT JOIN, COUNT, SUM and GROUP BY. Annual Elite shows zero because nobody has bought it. Run Q8 for COUNT, SUM, AVG, MIN and MAX on payments: 9 payments, 50,000 rupees collected. Run Q10 for GROUP BY with HAVING: members with more than two bookings. The file has 15 queries in all, including subqueries and a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25 seconds). The UI is written in Python with Flask. The browser sends a form, Flask builds a parameterised SQL statement, the PyMySQL driver sends it to MySQL, and the page is redrawn from a fresh SELECT. So what you see on screen is always what is in the database. There are six screens: Members, Memberships, Trainers, Fitness Sessions and Bookings each support insert, delete and view, and Reports shows the join and aggregate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60 seconds, LIVE DEMO). Open Members. Show the 8 existing records (VIEW). Fill the form: Rohan Das, date of birth, phone 9876501234, email, and press Insert member. The green message appears and the list now shows 9 records. Switch to the MySQL window and run SELECT * FROM member; to prove row 9 is in the database. Then try to insert another member with Arjun's phone number: the UNIQUE constraint rejects it and the UI shows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60 seconds, LIVE DEMO). First sell Rohan a plan on the Memberships screen and book him into a session on the Bookings screen, so he has dependent rows. Go back to Members and press Delete on Rohan Das. The list returns to 8 records. In MySQL run SELECT on member, membership and payment: his membership and payment rows are gone too, because the foreign keys use ON DELETE CASCADE. Nothing is left pointing to a member who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30 seconds, LIVE DEMO if time allows). Two quick checks. On Trainers, press Delete on Rohit Malhotra: MySQL refuses because he still has sessions and the foreign key is ON DELETE RESTRICT. On Bookings, insert a booking for a new session and then delete it. The point is that the rules live in the database, so they hold even if someone bypasses the UI and uses the MySQL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SPEAKER (about 20 seconds), then questions. Summarise: we designed the ER diagram, mapped it to seven tables in third normal form, enforced the rules with constraints, wrote fifteen queries and built a working interface. Future work: login with roles, automatic expiry of memberships using a MySQL event, a trigger to block bookings when a session is full, and online payment. Thank you, we are happy to take questions. Likely questions: why is BOOKING a separate table; difference between CASCADE and RESTRICT; why age is not stored; why the schema is in 3NF; what happens if two people book the last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877824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82512"/>
            <a:ext cx="9601200" cy="274320"/>
          </a:xfrm>
          <a:prstGeom prst="rect">
            <a:avLst/>
          </a:prstGeom>
          <a:noFill/>
          <a:ln/>
        </p:spPr>
        <p:txBody>
          <a:bodyPr wrap="square" lIns="0" tIns="0" rIns="0" bIns="0" rtlCol="0" anchor="ctr"/>
          <a:lstStyle/>
          <a:p>
            <a:pPr indent="0" marL="0">
              <a:buNone/>
            </a:pPr>
            <a:r>
              <a:rPr lang="en-US" sz="1000" dirty="0">
                <a:solidFill>
                  <a:schemeClr val="tx2"/>
                </a:solidFill>
              </a:rPr>
              <a:t>DBMS Course Project  |  Project 67: Gym Membership and Fitness Session Management System</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1325880"/>
            <a:ext cx="3931920" cy="310896"/>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640080" y="1325880"/>
            <a:ext cx="3931920" cy="310896"/>
          </a:xfrm>
          <a:prstGeom prst="rect">
            <a:avLst/>
          </a:prstGeom>
          <a:noFill/>
          <a:ln/>
        </p:spPr>
        <p:txBody>
          <a:bodyPr wrap="square" lIns="0" tIns="0" rIns="0" bIns="0" rtlCol="0" anchor="ctr"/>
          <a:lstStyle/>
          <a:p>
            <a:pPr algn="ctr" indent="0" marL="0">
              <a:buNone/>
            </a:pPr>
            <a:r>
              <a:rPr lang="en-US" sz="1100" b="1" spc="100" kern="0" dirty="0">
                <a:solidFill>
                  <a:schemeClr val="bg1"/>
                </a:solidFill>
              </a:rPr>
              <a:t>DBMS COURSE PROJECT  |  PROJECT NO. 67</a:t>
            </a:r>
            <a:endParaRPr lang="en-US" sz="1100" dirty="0"/>
          </a:p>
        </p:txBody>
      </p:sp>
      <p:sp>
        <p:nvSpPr>
          <p:cNvPr id="4" name="Text 0"/>
          <p:cNvSpPr/>
          <p:nvPr>
            <p:ph idx="100" type="title" hasCustomPrompt="1"/>
          </p:nvPr>
        </p:nvSpPr>
        <p:spPr>
          <a:xfrm>
            <a:off x="640080" y="2011680"/>
            <a:ext cx="8778240" cy="1828800"/>
          </a:xfrm>
          <a:prstGeom prst="rect">
            <a:avLst/>
          </a:prstGeom>
          <a:noFill/>
          <a:ln/>
        </p:spPr>
        <p:txBody>
          <a:bodyPr wrap="square" lIns="0" tIns="0" rIns="0" bIns="0" rtlCol="0" anchor="t"/>
          <a:lstStyle/>
          <a:p>
            <a:pPr algn="l" indent="0" marL="0">
              <a:buNone/>
            </a:pPr>
            <a:r>
              <a:rPr lang="en-US" sz="4000" b="1" dirty="0">
                <a:solidFill>
                  <a:schemeClr val="bg1"/>
                </a:solidFill>
              </a:rPr>
              <a:t>Gym Membership and Fitness Session Management System</a:t>
            </a:r>
            <a:endParaRPr lang="en-US" sz="4000" dirty="0"/>
          </a:p>
        </p:txBody>
      </p:sp>
      <p:sp>
        <p:nvSpPr>
          <p:cNvPr id="5" name="Text 3"/>
          <p:cNvSpPr txBox="1"/>
          <p:nvPr/>
        </p:nvSpPr>
        <p:spPr>
          <a:xfrm>
            <a:off x="640080" y="3703320"/>
            <a:ext cx="8778240" cy="411480"/>
          </a:xfrm>
          <a:prstGeom prst="rect">
            <a:avLst/>
          </a:prstGeom>
          <a:noFill/>
          <a:ln/>
        </p:spPr>
        <p:txBody>
          <a:bodyPr wrap="square" lIns="0" tIns="0" rIns="0" bIns="0" rtlCol="0" anchor="t"/>
          <a:lstStyle/>
          <a:p>
            <a:pPr indent="0" marL="0">
              <a:buNone/>
            </a:pPr>
            <a:r>
              <a:rPr lang="en-US" sz="2000" dirty="0">
                <a:solidFill>
                  <a:schemeClr val="accent5"/>
                </a:solidFill>
              </a:rPr>
              <a:t>Design and Implementation of a Database Management System</a:t>
            </a:r>
            <a:endParaRPr lang="en-US" sz="2000" dirty="0"/>
          </a:p>
        </p:txBody>
      </p:sp>
      <p:sp>
        <p:nvSpPr>
          <p:cNvPr id="6" name="Text 4"/>
          <p:cNvSpPr txBox="1"/>
          <p:nvPr/>
        </p:nvSpPr>
        <p:spPr>
          <a:xfrm>
            <a:off x="640080" y="4526280"/>
            <a:ext cx="5486400" cy="1097280"/>
          </a:xfrm>
          <a:prstGeom prst="rect">
            <a:avLst/>
          </a:prstGeom>
          <a:noFill/>
          <a:ln/>
        </p:spPr>
        <p:txBody>
          <a:bodyPr wrap="square" lIns="0" tIns="0" rIns="0" bIns="0" rtlCol="0" anchor="t"/>
          <a:lstStyle/>
          <a:p>
            <a:pPr indent="0" marL="0">
              <a:spcAft>
                <a:spcPts val="400"/>
              </a:spcAft>
              <a:buNone/>
            </a:pPr>
            <a:r>
              <a:rPr lang="en-US" sz="1600" dirty="0">
                <a:solidFill>
                  <a:schemeClr val="bg1"/>
                </a:solidFill>
              </a:rPr>
              <a:t>Sai Nihal Nellore  (25WU0101118)</a:t>
            </a:r>
            <a:endParaRPr lang="en-US" sz="1600" dirty="0"/>
          </a:p>
          <a:p>
            <a:pPr indent="0" marL="0">
              <a:spcAft>
                <a:spcPts val="400"/>
              </a:spcAft>
              <a:buNone/>
            </a:pPr>
            <a:r>
              <a:rPr lang="en-US" sz="1600" dirty="0">
                <a:solidFill>
                  <a:schemeClr val="bg1"/>
                </a:solidFill>
              </a:rPr>
              <a:t>[Member 2 name]  ([Roll number])</a:t>
            </a:r>
            <a:endParaRPr lang="en-US" sz="1600" dirty="0"/>
          </a:p>
          <a:p>
            <a:pPr indent="0" marL="0">
              <a:spcAft>
                <a:spcPts val="400"/>
              </a:spcAft>
              <a:buNone/>
            </a:pPr>
            <a:r>
              <a:rPr lang="en-US" sz="1600" dirty="0">
                <a:solidFill>
                  <a:schemeClr val="bg1"/>
                </a:solidFill>
              </a:rPr>
              <a:t>[Member 3 name]  ([Roll number])</a:t>
            </a:r>
            <a:endParaRPr lang="en-US" sz="1600" dirty="0"/>
          </a:p>
        </p:txBody>
      </p:sp>
      <p:sp>
        <p:nvSpPr>
          <p:cNvPr id="7" name="Text 5"/>
          <p:cNvSpPr txBox="1"/>
          <p:nvPr/>
        </p:nvSpPr>
        <p:spPr>
          <a:xfrm>
            <a:off x="6400800" y="4526280"/>
            <a:ext cx="3200400" cy="1097280"/>
          </a:xfrm>
          <a:prstGeom prst="rect">
            <a:avLst/>
          </a:prstGeom>
          <a:noFill/>
          <a:ln/>
        </p:spPr>
        <p:txBody>
          <a:bodyPr wrap="square" lIns="0" tIns="0" rIns="0" bIns="0" rtlCol="0" anchor="t"/>
          <a:lstStyle/>
          <a:p>
            <a:pPr indent="0" marL="0">
              <a:spcAft>
                <a:spcPts val="400"/>
              </a:spcAft>
              <a:buNone/>
            </a:pPr>
            <a:r>
              <a:rPr lang="en-US" sz="1600" dirty="0">
                <a:solidFill>
                  <a:schemeClr val="accent5"/>
                </a:solidFill>
              </a:rPr>
              <a:t>Section: [Section name]</a:t>
            </a:r>
            <a:endParaRPr lang="en-US" sz="1600" dirty="0"/>
          </a:p>
          <a:p>
            <a:pPr indent="0" marL="0">
              <a:spcAft>
                <a:spcPts val="400"/>
              </a:spcAft>
              <a:buNone/>
            </a:pPr>
            <a:r>
              <a:rPr lang="en-US" sz="1600" dirty="0">
                <a:solidFill>
                  <a:schemeClr val="accent5"/>
                </a:solidFill>
              </a:rPr>
              <a:t>Faculty: [Faculty name]</a:t>
            </a:r>
            <a:endParaRPr lang="en-US" sz="1600" dirty="0"/>
          </a:p>
          <a:p>
            <a:pPr indent="0" marL="0">
              <a:spcAft>
                <a:spcPts val="400"/>
              </a:spcAft>
              <a:buNone/>
            </a:pPr>
            <a:r>
              <a:rPr lang="en-US" sz="1600" dirty="0">
                <a:solidFill>
                  <a:schemeClr val="accent5"/>
                </a:solidFill>
              </a:rPr>
              <a:t>Academic year 2026-27</a:t>
            </a:r>
            <a:endParaRPr lang="en-US" sz="1600" dirty="0"/>
          </a:p>
        </p:txBody>
      </p:sp>
      <p:sp>
        <p:nvSpPr>
          <p:cNvPr id="8" name="Shape 6"/>
          <p:cNvSpPr/>
          <p:nvPr/>
        </p:nvSpPr>
        <p:spPr>
          <a:xfrm>
            <a:off x="9966960" y="1325880"/>
            <a:ext cx="1600200" cy="1234440"/>
          </a:xfrm>
          <a:prstGeom prst="roundRect">
            <a:avLst>
              <a:gd name="adj" fmla="val 5926"/>
            </a:avLst>
          </a:prstGeom>
          <a:solidFill>
            <a:schemeClr val="accent1"/>
          </a:solidFill>
          <a:ln w="12700">
            <a:solidFill>
              <a:schemeClr val="tx1"/>
            </a:solidFill>
            <a:prstDash val="solid"/>
          </a:ln>
        </p:spPr>
      </p:sp>
      <p:sp>
        <p:nvSpPr>
          <p:cNvPr id="9" name="Text 7"/>
          <p:cNvSpPr txBox="1"/>
          <p:nvPr/>
        </p:nvSpPr>
        <p:spPr>
          <a:xfrm>
            <a:off x="9966960" y="1417320"/>
            <a:ext cx="1600200" cy="640080"/>
          </a:xfrm>
          <a:prstGeom prst="rect">
            <a:avLst/>
          </a:prstGeom>
          <a:noFill/>
          <a:ln/>
        </p:spPr>
        <p:txBody>
          <a:bodyPr wrap="square" lIns="0" tIns="0" rIns="0" bIns="0" rtlCol="0" anchor="t"/>
          <a:lstStyle/>
          <a:p>
            <a:pPr algn="ctr" indent="0" marL="0">
              <a:buNone/>
            </a:pPr>
            <a:r>
              <a:rPr lang="en-US" sz="3600" b="1" dirty="0">
                <a:solidFill>
                  <a:schemeClr val="bg1"/>
                </a:solidFill>
                <a:latin typeface="Arial" pitchFamily="34" charset="0"/>
                <a:ea typeface="Arial" pitchFamily="34" charset="-122"/>
                <a:cs typeface="Arial" pitchFamily="34" charset="-120"/>
              </a:rPr>
              <a:t>7</a:t>
            </a:r>
            <a:endParaRPr lang="en-US" sz="3600" dirty="0"/>
          </a:p>
        </p:txBody>
      </p:sp>
      <p:sp>
        <p:nvSpPr>
          <p:cNvPr id="10" name="Text 8"/>
          <p:cNvSpPr txBox="1"/>
          <p:nvPr/>
        </p:nvSpPr>
        <p:spPr>
          <a:xfrm>
            <a:off x="9966960" y="2103120"/>
            <a:ext cx="1600200" cy="320040"/>
          </a:xfrm>
          <a:prstGeom prst="rect">
            <a:avLst/>
          </a:prstGeom>
          <a:noFill/>
          <a:ln/>
        </p:spPr>
        <p:txBody>
          <a:bodyPr wrap="square" lIns="0" tIns="0" rIns="0" bIns="0" rtlCol="0" anchor="t"/>
          <a:lstStyle/>
          <a:p>
            <a:pPr algn="ctr" indent="0" marL="0">
              <a:buNone/>
            </a:pPr>
            <a:r>
              <a:rPr lang="en-US" sz="1200" dirty="0">
                <a:solidFill>
                  <a:schemeClr val="bg1"/>
                </a:solidFill>
              </a:rPr>
              <a:t>tables in 3NF</a:t>
            </a:r>
            <a:endParaRPr lang="en-US" sz="1200" dirty="0"/>
          </a:p>
        </p:txBody>
      </p:sp>
      <p:sp>
        <p:nvSpPr>
          <p:cNvPr id="11" name="Shape 9"/>
          <p:cNvSpPr/>
          <p:nvPr/>
        </p:nvSpPr>
        <p:spPr>
          <a:xfrm>
            <a:off x="9966960" y="2788920"/>
            <a:ext cx="1600200" cy="1234440"/>
          </a:xfrm>
          <a:prstGeom prst="roundRect">
            <a:avLst>
              <a:gd name="adj" fmla="val 5926"/>
            </a:avLst>
          </a:prstGeom>
          <a:solidFill>
            <a:schemeClr val="tx2"/>
          </a:solidFill>
          <a:ln w="12700">
            <a:solidFill>
              <a:schemeClr val="tx1"/>
            </a:solidFill>
            <a:prstDash val="solid"/>
          </a:ln>
        </p:spPr>
      </p:sp>
      <p:sp>
        <p:nvSpPr>
          <p:cNvPr id="12" name="Text 10"/>
          <p:cNvSpPr txBox="1"/>
          <p:nvPr/>
        </p:nvSpPr>
        <p:spPr>
          <a:xfrm>
            <a:off x="9966960" y="2880360"/>
            <a:ext cx="1600200" cy="640080"/>
          </a:xfrm>
          <a:prstGeom prst="rect">
            <a:avLst/>
          </a:prstGeom>
          <a:noFill/>
          <a:ln/>
        </p:spPr>
        <p:txBody>
          <a:bodyPr wrap="square" lIns="0" tIns="0" rIns="0" bIns="0" rtlCol="0" anchor="t"/>
          <a:lstStyle/>
          <a:p>
            <a:pPr algn="ctr" indent="0" marL="0">
              <a:buNone/>
            </a:pPr>
            <a:r>
              <a:rPr lang="en-US" sz="3600" b="1" dirty="0">
                <a:solidFill>
                  <a:schemeClr val="bg1"/>
                </a:solidFill>
                <a:latin typeface="Arial" pitchFamily="34" charset="0"/>
                <a:ea typeface="Arial" pitchFamily="34" charset="-122"/>
                <a:cs typeface="Arial" pitchFamily="34" charset="-120"/>
              </a:rPr>
              <a:t>15</a:t>
            </a:r>
            <a:endParaRPr lang="en-US" sz="3600" dirty="0"/>
          </a:p>
        </p:txBody>
      </p:sp>
      <p:sp>
        <p:nvSpPr>
          <p:cNvPr id="13" name="Text 11"/>
          <p:cNvSpPr txBox="1"/>
          <p:nvPr/>
        </p:nvSpPr>
        <p:spPr>
          <a:xfrm>
            <a:off x="9966960" y="3566160"/>
            <a:ext cx="1600200" cy="320040"/>
          </a:xfrm>
          <a:prstGeom prst="rect">
            <a:avLst/>
          </a:prstGeom>
          <a:noFill/>
          <a:ln/>
        </p:spPr>
        <p:txBody>
          <a:bodyPr wrap="square" lIns="0" tIns="0" rIns="0" bIns="0" rtlCol="0" anchor="t"/>
          <a:lstStyle/>
          <a:p>
            <a:pPr algn="ctr" indent="0" marL="0">
              <a:buNone/>
            </a:pPr>
            <a:r>
              <a:rPr lang="en-US" sz="1200" dirty="0">
                <a:solidFill>
                  <a:schemeClr val="bg1"/>
                </a:solidFill>
              </a:rPr>
              <a:t>SELECT queries</a:t>
            </a:r>
            <a:endParaRPr lang="en-US" sz="1200" dirty="0"/>
          </a:p>
        </p:txBody>
      </p:sp>
      <p:sp>
        <p:nvSpPr>
          <p:cNvPr id="14" name="Shape 12"/>
          <p:cNvSpPr/>
          <p:nvPr/>
        </p:nvSpPr>
        <p:spPr>
          <a:xfrm>
            <a:off x="9966960" y="4251960"/>
            <a:ext cx="1600200" cy="1234440"/>
          </a:xfrm>
          <a:prstGeom prst="roundRect">
            <a:avLst>
              <a:gd name="adj" fmla="val 5926"/>
            </a:avLst>
          </a:prstGeom>
          <a:solidFill>
            <a:schemeClr val="tx2"/>
          </a:solidFill>
          <a:ln w="12700">
            <a:solidFill>
              <a:schemeClr val="tx1"/>
            </a:solidFill>
            <a:prstDash val="solid"/>
          </a:ln>
        </p:spPr>
      </p:sp>
      <p:sp>
        <p:nvSpPr>
          <p:cNvPr id="15" name="Text 13"/>
          <p:cNvSpPr txBox="1"/>
          <p:nvPr/>
        </p:nvSpPr>
        <p:spPr>
          <a:xfrm>
            <a:off x="9966960" y="4343400"/>
            <a:ext cx="1600200" cy="640080"/>
          </a:xfrm>
          <a:prstGeom prst="rect">
            <a:avLst/>
          </a:prstGeom>
          <a:noFill/>
          <a:ln/>
        </p:spPr>
        <p:txBody>
          <a:bodyPr wrap="square" lIns="0" tIns="0" rIns="0" bIns="0" rtlCol="0" anchor="t"/>
          <a:lstStyle/>
          <a:p>
            <a:pPr algn="ctr" indent="0" marL="0">
              <a:buNone/>
            </a:pPr>
            <a:r>
              <a:rPr lang="en-US" sz="3600" b="1" dirty="0">
                <a:solidFill>
                  <a:schemeClr val="bg1"/>
                </a:solidFill>
                <a:latin typeface="Arial" pitchFamily="34" charset="0"/>
                <a:ea typeface="Arial" pitchFamily="34" charset="-122"/>
                <a:cs typeface="Arial" pitchFamily="34" charset="-120"/>
              </a:rPr>
              <a:t>6</a:t>
            </a:r>
            <a:endParaRPr lang="en-US" sz="3600" dirty="0"/>
          </a:p>
        </p:txBody>
      </p:sp>
      <p:sp>
        <p:nvSpPr>
          <p:cNvPr id="16" name="Text 14"/>
          <p:cNvSpPr txBox="1"/>
          <p:nvPr/>
        </p:nvSpPr>
        <p:spPr>
          <a:xfrm>
            <a:off x="9966960" y="5029200"/>
            <a:ext cx="1600200" cy="320040"/>
          </a:xfrm>
          <a:prstGeom prst="rect">
            <a:avLst/>
          </a:prstGeom>
          <a:noFill/>
          <a:ln/>
        </p:spPr>
        <p:txBody>
          <a:bodyPr wrap="square" lIns="0" tIns="0" rIns="0" bIns="0" rtlCol="0" anchor="t"/>
          <a:lstStyle/>
          <a:p>
            <a:pPr algn="ctr" indent="0" marL="0">
              <a:buNone/>
            </a:pPr>
            <a:r>
              <a:rPr lang="en-US" sz="1200" dirty="0">
                <a:solidFill>
                  <a:schemeClr val="bg1"/>
                </a:solidFill>
              </a:rPr>
              <a:t>UI screens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Paper registers lose track of members, fees and seats</a:t>
            </a:r>
            <a:endParaRPr lang="en-US" sz="3200" dirty="0"/>
          </a:p>
        </p:txBody>
      </p:sp>
      <p:sp>
        <p:nvSpPr>
          <p:cNvPr id="4" name="Text 1"/>
          <p:cNvSpPr txBox="1"/>
          <p:nvPr/>
        </p:nvSpPr>
        <p:spPr>
          <a:xfrm>
            <a:off x="548640" y="1371600"/>
            <a:ext cx="6400800" cy="320040"/>
          </a:xfrm>
          <a:prstGeom prst="rect">
            <a:avLst/>
          </a:prstGeom>
          <a:noFill/>
          <a:ln/>
        </p:spPr>
        <p:txBody>
          <a:bodyPr wrap="square" lIns="0" tIns="0" rIns="0" bIns="0" rtlCol="0" anchor="t"/>
          <a:lstStyle/>
          <a:p>
            <a:pPr indent="0" marL="0">
              <a:buNone/>
            </a:pPr>
            <a:r>
              <a:rPr lang="en-US" sz="1300" b="1" spc="100" kern="0" dirty="0">
                <a:solidFill>
                  <a:schemeClr val="accent1"/>
                </a:solidFill>
              </a:rPr>
              <a:t>Problem statement</a:t>
            </a:r>
            <a:endParaRPr lang="en-US" sz="1300" dirty="0"/>
          </a:p>
        </p:txBody>
      </p:sp>
      <p:sp>
        <p:nvSpPr>
          <p:cNvPr id="5" name="Text 2"/>
          <p:cNvSpPr txBox="1"/>
          <p:nvPr/>
        </p:nvSpPr>
        <p:spPr>
          <a:xfrm>
            <a:off x="548640" y="1737360"/>
            <a:ext cx="6583680" cy="1234440"/>
          </a:xfrm>
          <a:prstGeom prst="rect">
            <a:avLst/>
          </a:prstGeom>
          <a:noFill/>
          <a:ln/>
        </p:spPr>
        <p:txBody>
          <a:bodyPr wrap="square" lIns="0" tIns="0" rIns="0" bIns="0" rtlCol="0" anchor="t"/>
          <a:lstStyle/>
          <a:p>
            <a:pPr indent="0" marL="0">
              <a:buNone/>
            </a:pPr>
            <a:r>
              <a:rPr lang="en-US" sz="1700" dirty="0">
                <a:solidFill>
                  <a:schemeClr val="tx1"/>
                </a:solidFill>
              </a:rPr>
              <a:t>A gym has to track who its members are, which plan each one has paid for, which trainer runs which session, and who has booked a seat. Kept in registers and scattered spreadsheets, this data gets duplicated, goes out of date and cannot be queried.</a:t>
            </a:r>
            <a:endParaRPr lang="en-US" sz="1700" dirty="0"/>
          </a:p>
        </p:txBody>
      </p:sp>
      <p:sp>
        <p:nvSpPr>
          <p:cNvPr id="6" name="Shape 3"/>
          <p:cNvSpPr/>
          <p:nvPr/>
        </p:nvSpPr>
        <p:spPr>
          <a:xfrm>
            <a:off x="548640" y="3246120"/>
            <a:ext cx="2103120" cy="2743200"/>
          </a:xfrm>
          <a:prstGeom prst="roundRect">
            <a:avLst>
              <a:gd name="adj" fmla="val 3478"/>
            </a:avLst>
          </a:prstGeom>
          <a:solidFill>
            <a:schemeClr val="bg1"/>
          </a:solidFill>
          <a:ln w="9525">
            <a:solidFill>
              <a:schemeClr val="accent5"/>
            </a:solidFill>
            <a:prstDash val="solid"/>
          </a:ln>
        </p:spPr>
      </p:sp>
      <p:sp>
        <p:nvSpPr>
          <p:cNvPr id="7" name="Shape 4"/>
          <p:cNvSpPr/>
          <p:nvPr/>
        </p:nvSpPr>
        <p:spPr>
          <a:xfrm>
            <a:off x="731520" y="342900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73152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731520" y="4023360"/>
            <a:ext cx="1783080" cy="365760"/>
          </a:xfrm>
          <a:prstGeom prst="rect">
            <a:avLst/>
          </a:prstGeom>
          <a:noFill/>
          <a:ln/>
        </p:spPr>
        <p:txBody>
          <a:bodyPr wrap="square" lIns="0" tIns="0" rIns="0" bIns="0" rtlCol="0" anchor="t"/>
          <a:lstStyle/>
          <a:p>
            <a:pPr indent="0" marL="0">
              <a:buNone/>
            </a:pPr>
            <a:r>
              <a:rPr lang="en-US" sz="1600" b="1" dirty="0">
                <a:solidFill>
                  <a:schemeClr val="tx1"/>
                </a:solidFill>
              </a:rPr>
              <a:t>Duplicate data</a:t>
            </a:r>
            <a:endParaRPr lang="en-US" sz="1600" dirty="0"/>
          </a:p>
        </p:txBody>
      </p:sp>
      <p:sp>
        <p:nvSpPr>
          <p:cNvPr id="10" name="Text 7"/>
          <p:cNvSpPr txBox="1"/>
          <p:nvPr/>
        </p:nvSpPr>
        <p:spPr>
          <a:xfrm>
            <a:off x="731520" y="4434840"/>
            <a:ext cx="1783080" cy="1463040"/>
          </a:xfrm>
          <a:prstGeom prst="rect">
            <a:avLst/>
          </a:prstGeom>
          <a:noFill/>
          <a:ln/>
        </p:spPr>
        <p:txBody>
          <a:bodyPr wrap="square" lIns="0" tIns="0" rIns="0" bIns="0" rtlCol="0" anchor="t"/>
          <a:lstStyle/>
          <a:p>
            <a:pPr indent="0" marL="0">
              <a:buNone/>
            </a:pPr>
            <a:r>
              <a:rPr lang="en-US" sz="1400" dirty="0">
                <a:solidFill>
                  <a:schemeClr val="tx2"/>
                </a:solidFill>
              </a:rPr>
              <a:t>The same member is written in the fee register, the class list and the attendance sheet.</a:t>
            </a:r>
            <a:endParaRPr lang="en-US" sz="1400" dirty="0"/>
          </a:p>
        </p:txBody>
      </p:sp>
      <p:sp>
        <p:nvSpPr>
          <p:cNvPr id="11" name="Shape 8"/>
          <p:cNvSpPr/>
          <p:nvPr/>
        </p:nvSpPr>
        <p:spPr>
          <a:xfrm>
            <a:off x="2807208" y="3246120"/>
            <a:ext cx="2103120" cy="2743200"/>
          </a:xfrm>
          <a:prstGeom prst="roundRect">
            <a:avLst>
              <a:gd name="adj" fmla="val 3478"/>
            </a:avLst>
          </a:prstGeom>
          <a:solidFill>
            <a:schemeClr val="bg1"/>
          </a:solidFill>
          <a:ln w="9525">
            <a:solidFill>
              <a:schemeClr val="accent5"/>
            </a:solidFill>
            <a:prstDash val="solid"/>
          </a:ln>
        </p:spPr>
      </p:sp>
      <p:sp>
        <p:nvSpPr>
          <p:cNvPr id="12" name="Shape 9"/>
          <p:cNvSpPr/>
          <p:nvPr/>
        </p:nvSpPr>
        <p:spPr>
          <a:xfrm>
            <a:off x="2990088" y="342900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2990088"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2990088" y="4023360"/>
            <a:ext cx="1783080" cy="365760"/>
          </a:xfrm>
          <a:prstGeom prst="rect">
            <a:avLst/>
          </a:prstGeom>
          <a:noFill/>
          <a:ln/>
        </p:spPr>
        <p:txBody>
          <a:bodyPr wrap="square" lIns="0" tIns="0" rIns="0" bIns="0" rtlCol="0" anchor="t"/>
          <a:lstStyle/>
          <a:p>
            <a:pPr indent="0" marL="0">
              <a:buNone/>
            </a:pPr>
            <a:r>
              <a:rPr lang="en-US" sz="1600" b="1" dirty="0">
                <a:solidFill>
                  <a:schemeClr val="tx1"/>
                </a:solidFill>
              </a:rPr>
              <a:t>Missed renewals</a:t>
            </a:r>
            <a:endParaRPr lang="en-US" sz="1600" dirty="0"/>
          </a:p>
        </p:txBody>
      </p:sp>
      <p:sp>
        <p:nvSpPr>
          <p:cNvPr id="15" name="Text 12"/>
          <p:cNvSpPr txBox="1"/>
          <p:nvPr/>
        </p:nvSpPr>
        <p:spPr>
          <a:xfrm>
            <a:off x="2990088" y="4434840"/>
            <a:ext cx="1783080" cy="1463040"/>
          </a:xfrm>
          <a:prstGeom prst="rect">
            <a:avLst/>
          </a:prstGeom>
          <a:noFill/>
          <a:ln/>
        </p:spPr>
        <p:txBody>
          <a:bodyPr wrap="square" lIns="0" tIns="0" rIns="0" bIns="0" rtlCol="0" anchor="t"/>
          <a:lstStyle/>
          <a:p>
            <a:pPr indent="0" marL="0">
              <a:buNone/>
            </a:pPr>
            <a:r>
              <a:rPr lang="en-US" sz="1400" dirty="0">
                <a:solidFill>
                  <a:schemeClr val="tx2"/>
                </a:solidFill>
              </a:rPr>
              <a:t>Nobody can list the plans that expire this week or the fees still due.</a:t>
            </a:r>
            <a:endParaRPr lang="en-US" sz="1400" dirty="0"/>
          </a:p>
        </p:txBody>
      </p:sp>
      <p:sp>
        <p:nvSpPr>
          <p:cNvPr id="16" name="Shape 13"/>
          <p:cNvSpPr/>
          <p:nvPr/>
        </p:nvSpPr>
        <p:spPr>
          <a:xfrm>
            <a:off x="5065776" y="3246120"/>
            <a:ext cx="2103120" cy="2743200"/>
          </a:xfrm>
          <a:prstGeom prst="roundRect">
            <a:avLst>
              <a:gd name="adj" fmla="val 3478"/>
            </a:avLst>
          </a:prstGeom>
          <a:solidFill>
            <a:schemeClr val="bg1"/>
          </a:solidFill>
          <a:ln w="9525">
            <a:solidFill>
              <a:schemeClr val="accent5"/>
            </a:solidFill>
            <a:prstDash val="solid"/>
          </a:ln>
        </p:spPr>
      </p:sp>
      <p:sp>
        <p:nvSpPr>
          <p:cNvPr id="17" name="Shape 14"/>
          <p:cNvSpPr/>
          <p:nvPr/>
        </p:nvSpPr>
        <p:spPr>
          <a:xfrm>
            <a:off x="5248656" y="3429000"/>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5248656"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6"/>
          <p:cNvSpPr txBox="1"/>
          <p:nvPr/>
        </p:nvSpPr>
        <p:spPr>
          <a:xfrm>
            <a:off x="5248656" y="4023360"/>
            <a:ext cx="1783080" cy="365760"/>
          </a:xfrm>
          <a:prstGeom prst="rect">
            <a:avLst/>
          </a:prstGeom>
          <a:noFill/>
          <a:ln/>
        </p:spPr>
        <p:txBody>
          <a:bodyPr wrap="square" lIns="0" tIns="0" rIns="0" bIns="0" rtlCol="0" anchor="t"/>
          <a:lstStyle/>
          <a:p>
            <a:pPr indent="0" marL="0">
              <a:buNone/>
            </a:pPr>
            <a:r>
              <a:rPr lang="en-US" sz="1600" b="1" dirty="0">
                <a:solidFill>
                  <a:schemeClr val="tx1"/>
                </a:solidFill>
              </a:rPr>
              <a:t>Overbooked sessions</a:t>
            </a:r>
            <a:endParaRPr lang="en-US" sz="1600" dirty="0"/>
          </a:p>
        </p:txBody>
      </p:sp>
      <p:sp>
        <p:nvSpPr>
          <p:cNvPr id="20" name="Text 17"/>
          <p:cNvSpPr txBox="1"/>
          <p:nvPr/>
        </p:nvSpPr>
        <p:spPr>
          <a:xfrm>
            <a:off x="5248656" y="4434840"/>
            <a:ext cx="1783080" cy="1463040"/>
          </a:xfrm>
          <a:prstGeom prst="rect">
            <a:avLst/>
          </a:prstGeom>
          <a:noFill/>
          <a:ln/>
        </p:spPr>
        <p:txBody>
          <a:bodyPr wrap="square" lIns="0" tIns="0" rIns="0" bIns="0" rtlCol="0" anchor="t"/>
          <a:lstStyle/>
          <a:p>
            <a:pPr indent="0" marL="0">
              <a:buNone/>
            </a:pPr>
            <a:r>
              <a:rPr lang="en-US" sz="1400" dirty="0">
                <a:solidFill>
                  <a:schemeClr val="tx2"/>
                </a:solidFill>
              </a:rPr>
              <a:t>A class of 12 seats gets 15 names because nothing checks capacity.</a:t>
            </a:r>
            <a:endParaRPr lang="en-US" sz="1400" dirty="0"/>
          </a:p>
        </p:txBody>
      </p:sp>
      <p:sp>
        <p:nvSpPr>
          <p:cNvPr id="21" name="Shape 18"/>
          <p:cNvSpPr/>
          <p:nvPr/>
        </p:nvSpPr>
        <p:spPr>
          <a:xfrm>
            <a:off x="7589520" y="1371600"/>
            <a:ext cx="4023360" cy="4617720"/>
          </a:xfrm>
          <a:prstGeom prst="roundRect">
            <a:avLst>
              <a:gd name="adj" fmla="val 1818"/>
            </a:avLst>
          </a:prstGeom>
          <a:solidFill>
            <a:schemeClr val="bg1"/>
          </a:solidFill>
          <a:ln w="9525">
            <a:solidFill>
              <a:schemeClr val="accent5"/>
            </a:solidFill>
            <a:prstDash val="solid"/>
          </a:ln>
        </p:spPr>
      </p:sp>
      <p:sp>
        <p:nvSpPr>
          <p:cNvPr id="22" name="Text 19"/>
          <p:cNvSpPr txBox="1"/>
          <p:nvPr/>
        </p:nvSpPr>
        <p:spPr>
          <a:xfrm>
            <a:off x="7818120" y="1554480"/>
            <a:ext cx="3566160" cy="320040"/>
          </a:xfrm>
          <a:prstGeom prst="rect">
            <a:avLst/>
          </a:prstGeom>
          <a:noFill/>
          <a:ln/>
        </p:spPr>
        <p:txBody>
          <a:bodyPr wrap="square" lIns="0" tIns="0" rIns="0" bIns="0" rtlCol="0" anchor="t"/>
          <a:lstStyle/>
          <a:p>
            <a:pPr indent="0" marL="0">
              <a:buNone/>
            </a:pPr>
            <a:r>
              <a:rPr lang="en-US" sz="1300" b="1" spc="100" kern="0" dirty="0">
                <a:solidFill>
                  <a:schemeClr val="accent1"/>
                </a:solidFill>
              </a:rPr>
              <a:t>Intended users</a:t>
            </a:r>
            <a:endParaRPr lang="en-US" sz="1300" dirty="0"/>
          </a:p>
        </p:txBody>
      </p:sp>
      <p:sp>
        <p:nvSpPr>
          <p:cNvPr id="23" name="Text 20"/>
          <p:cNvSpPr txBox="1"/>
          <p:nvPr/>
        </p:nvSpPr>
        <p:spPr>
          <a:xfrm>
            <a:off x="7818120" y="2011680"/>
            <a:ext cx="3566160" cy="320040"/>
          </a:xfrm>
          <a:prstGeom prst="rect">
            <a:avLst/>
          </a:prstGeom>
          <a:noFill/>
          <a:ln/>
        </p:spPr>
        <p:txBody>
          <a:bodyPr wrap="square" lIns="0" tIns="0" rIns="0" bIns="0" rtlCol="0" anchor="t"/>
          <a:lstStyle/>
          <a:p>
            <a:pPr indent="0" marL="0">
              <a:buNone/>
            </a:pPr>
            <a:r>
              <a:rPr lang="en-US" sz="1600" b="1" dirty="0">
                <a:solidFill>
                  <a:schemeClr val="tx1"/>
                </a:solidFill>
              </a:rPr>
              <a:t>Front desk staff</a:t>
            </a:r>
            <a:endParaRPr lang="en-US" sz="1600" dirty="0"/>
          </a:p>
        </p:txBody>
      </p:sp>
      <p:sp>
        <p:nvSpPr>
          <p:cNvPr id="24" name="Text 21"/>
          <p:cNvSpPr txBox="1"/>
          <p:nvPr/>
        </p:nvSpPr>
        <p:spPr>
          <a:xfrm>
            <a:off x="7818120" y="2331720"/>
            <a:ext cx="3566160" cy="457200"/>
          </a:xfrm>
          <a:prstGeom prst="rect">
            <a:avLst/>
          </a:prstGeom>
          <a:noFill/>
          <a:ln/>
        </p:spPr>
        <p:txBody>
          <a:bodyPr wrap="square" lIns="0" tIns="0" rIns="0" bIns="0" rtlCol="0" anchor="t"/>
          <a:lstStyle/>
          <a:p>
            <a:pPr indent="0" marL="0">
              <a:buNone/>
            </a:pPr>
            <a:r>
              <a:rPr lang="en-US" sz="1400" dirty="0">
                <a:solidFill>
                  <a:schemeClr val="tx2"/>
                </a:solidFill>
              </a:rPr>
              <a:t>register members, sell plans, take bookings</a:t>
            </a:r>
            <a:endParaRPr lang="en-US" sz="1400" dirty="0"/>
          </a:p>
        </p:txBody>
      </p:sp>
      <p:sp>
        <p:nvSpPr>
          <p:cNvPr id="25" name="Text 22"/>
          <p:cNvSpPr txBox="1"/>
          <p:nvPr/>
        </p:nvSpPr>
        <p:spPr>
          <a:xfrm>
            <a:off x="7818120" y="2971800"/>
            <a:ext cx="3566160" cy="320040"/>
          </a:xfrm>
          <a:prstGeom prst="rect">
            <a:avLst/>
          </a:prstGeom>
          <a:noFill/>
          <a:ln/>
        </p:spPr>
        <p:txBody>
          <a:bodyPr wrap="square" lIns="0" tIns="0" rIns="0" bIns="0" rtlCol="0" anchor="t"/>
          <a:lstStyle/>
          <a:p>
            <a:pPr indent="0" marL="0">
              <a:buNone/>
            </a:pPr>
            <a:r>
              <a:rPr lang="en-US" sz="1600" b="1" dirty="0">
                <a:solidFill>
                  <a:schemeClr val="tx1"/>
                </a:solidFill>
              </a:rPr>
              <a:t>Gym manager</a:t>
            </a:r>
            <a:endParaRPr lang="en-US" sz="1600" dirty="0"/>
          </a:p>
        </p:txBody>
      </p:sp>
      <p:sp>
        <p:nvSpPr>
          <p:cNvPr id="26" name="Text 23"/>
          <p:cNvSpPr txBox="1"/>
          <p:nvPr/>
        </p:nvSpPr>
        <p:spPr>
          <a:xfrm>
            <a:off x="7818120" y="3291840"/>
            <a:ext cx="3566160" cy="457200"/>
          </a:xfrm>
          <a:prstGeom prst="rect">
            <a:avLst/>
          </a:prstGeom>
          <a:noFill/>
          <a:ln/>
        </p:spPr>
        <p:txBody>
          <a:bodyPr wrap="square" lIns="0" tIns="0" rIns="0" bIns="0" rtlCol="0" anchor="t"/>
          <a:lstStyle/>
          <a:p>
            <a:pPr indent="0" marL="0">
              <a:buNone/>
            </a:pPr>
            <a:r>
              <a:rPr lang="en-US" sz="1400" dirty="0">
                <a:solidFill>
                  <a:schemeClr val="tx2"/>
                </a:solidFill>
              </a:rPr>
              <a:t>revenue, plan and trainer reports</a:t>
            </a:r>
            <a:endParaRPr lang="en-US" sz="1400" dirty="0"/>
          </a:p>
        </p:txBody>
      </p:sp>
      <p:sp>
        <p:nvSpPr>
          <p:cNvPr id="27" name="Text 24"/>
          <p:cNvSpPr txBox="1"/>
          <p:nvPr/>
        </p:nvSpPr>
        <p:spPr>
          <a:xfrm>
            <a:off x="7818120" y="3931920"/>
            <a:ext cx="3566160" cy="320040"/>
          </a:xfrm>
          <a:prstGeom prst="rect">
            <a:avLst/>
          </a:prstGeom>
          <a:noFill/>
          <a:ln/>
        </p:spPr>
        <p:txBody>
          <a:bodyPr wrap="square" lIns="0" tIns="0" rIns="0" bIns="0" rtlCol="0" anchor="t"/>
          <a:lstStyle/>
          <a:p>
            <a:pPr indent="0" marL="0">
              <a:buNone/>
            </a:pPr>
            <a:r>
              <a:rPr lang="en-US" sz="1600" b="1" dirty="0">
                <a:solidFill>
                  <a:schemeClr val="tx1"/>
                </a:solidFill>
              </a:rPr>
              <a:t>Trainers</a:t>
            </a:r>
            <a:endParaRPr lang="en-US" sz="1600" dirty="0"/>
          </a:p>
        </p:txBody>
      </p:sp>
      <p:sp>
        <p:nvSpPr>
          <p:cNvPr id="28" name="Text 25"/>
          <p:cNvSpPr txBox="1"/>
          <p:nvPr/>
        </p:nvSpPr>
        <p:spPr>
          <a:xfrm>
            <a:off x="7818120" y="4251960"/>
            <a:ext cx="3566160" cy="457200"/>
          </a:xfrm>
          <a:prstGeom prst="rect">
            <a:avLst/>
          </a:prstGeom>
          <a:noFill/>
          <a:ln/>
        </p:spPr>
        <p:txBody>
          <a:bodyPr wrap="square" lIns="0" tIns="0" rIns="0" bIns="0" rtlCol="0" anchor="t"/>
          <a:lstStyle/>
          <a:p>
            <a:pPr indent="0" marL="0">
              <a:buNone/>
            </a:pPr>
            <a:r>
              <a:rPr lang="en-US" sz="1400" dirty="0">
                <a:solidFill>
                  <a:schemeClr val="tx2"/>
                </a:solidFill>
              </a:rPr>
              <a:t>session timetable and who has booked</a:t>
            </a:r>
            <a:endParaRPr lang="en-US" sz="1400" dirty="0"/>
          </a:p>
        </p:txBody>
      </p:sp>
      <p:sp>
        <p:nvSpPr>
          <p:cNvPr id="29" name="Text 26"/>
          <p:cNvSpPr txBox="1"/>
          <p:nvPr/>
        </p:nvSpPr>
        <p:spPr>
          <a:xfrm>
            <a:off x="7818120" y="4892040"/>
            <a:ext cx="3566160" cy="320040"/>
          </a:xfrm>
          <a:prstGeom prst="rect">
            <a:avLst/>
          </a:prstGeom>
          <a:noFill/>
          <a:ln/>
        </p:spPr>
        <p:txBody>
          <a:bodyPr wrap="square" lIns="0" tIns="0" rIns="0" bIns="0" rtlCol="0" anchor="t"/>
          <a:lstStyle/>
          <a:p>
            <a:pPr indent="0" marL="0">
              <a:buNone/>
            </a:pPr>
            <a:r>
              <a:rPr lang="en-US" sz="1600" b="1" dirty="0">
                <a:solidFill>
                  <a:schemeClr val="tx1"/>
                </a:solidFill>
              </a:rPr>
              <a:t>Members</a:t>
            </a:r>
            <a:endParaRPr lang="en-US" sz="1600" dirty="0"/>
          </a:p>
        </p:txBody>
      </p:sp>
      <p:sp>
        <p:nvSpPr>
          <p:cNvPr id="30" name="Text 27"/>
          <p:cNvSpPr txBox="1"/>
          <p:nvPr/>
        </p:nvSpPr>
        <p:spPr>
          <a:xfrm>
            <a:off x="7818120" y="5212080"/>
            <a:ext cx="3566160" cy="457200"/>
          </a:xfrm>
          <a:prstGeom prst="rect">
            <a:avLst/>
          </a:prstGeom>
          <a:noFill/>
          <a:ln/>
        </p:spPr>
        <p:txBody>
          <a:bodyPr wrap="square" lIns="0" tIns="0" rIns="0" bIns="0" rtlCol="0" anchor="t"/>
          <a:lstStyle/>
          <a:p>
            <a:pPr indent="0" marL="0">
              <a:buNone/>
            </a:pPr>
            <a:r>
              <a:rPr lang="en-US" sz="1400" dirty="0">
                <a:solidFill>
                  <a:schemeClr val="tx2"/>
                </a:solidFill>
              </a:rPr>
              <a:t>get correct plan dates and a confirmed seat</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Objectives and scope</a:t>
            </a:r>
            <a:endParaRPr lang="en-US" sz="3200" dirty="0"/>
          </a:p>
        </p:txBody>
      </p:sp>
      <p:sp>
        <p:nvSpPr>
          <p:cNvPr id="4" name="Shape 1"/>
          <p:cNvSpPr/>
          <p:nvPr/>
        </p:nvSpPr>
        <p:spPr>
          <a:xfrm>
            <a:off x="548640" y="1371600"/>
            <a:ext cx="6035040" cy="4663440"/>
          </a:xfrm>
          <a:prstGeom prst="roundRect">
            <a:avLst>
              <a:gd name="adj" fmla="val 1569"/>
            </a:avLst>
          </a:prstGeom>
          <a:solidFill>
            <a:schemeClr val="bg1"/>
          </a:solidFill>
          <a:ln w="9525">
            <a:solidFill>
              <a:schemeClr val="accent5"/>
            </a:solidFill>
            <a:prstDash val="solid"/>
          </a:ln>
        </p:spPr>
      </p:sp>
      <p:sp>
        <p:nvSpPr>
          <p:cNvPr id="5" name="Text 2"/>
          <p:cNvSpPr txBox="1"/>
          <p:nvPr/>
        </p:nvSpPr>
        <p:spPr>
          <a:xfrm>
            <a:off x="777240" y="1554480"/>
            <a:ext cx="5486400" cy="320040"/>
          </a:xfrm>
          <a:prstGeom prst="rect">
            <a:avLst/>
          </a:prstGeom>
          <a:noFill/>
          <a:ln/>
        </p:spPr>
        <p:txBody>
          <a:bodyPr wrap="square" lIns="0" tIns="0" rIns="0" bIns="0" rtlCol="0" anchor="t"/>
          <a:lstStyle/>
          <a:p>
            <a:pPr indent="0" marL="0">
              <a:buNone/>
            </a:pPr>
            <a:r>
              <a:rPr lang="en-US" sz="1300" b="1" spc="100" kern="0" dirty="0">
                <a:solidFill>
                  <a:schemeClr val="accent1"/>
                </a:solidFill>
              </a:rPr>
              <a:t>Objectives</a:t>
            </a:r>
            <a:endParaRPr lang="en-US" sz="1300" dirty="0"/>
          </a:p>
        </p:txBody>
      </p:sp>
      <p:sp>
        <p:nvSpPr>
          <p:cNvPr id="6" name="Text 3"/>
          <p:cNvSpPr txBox="1"/>
          <p:nvPr/>
        </p:nvSpPr>
        <p:spPr>
          <a:xfrm>
            <a:off x="777240" y="2011680"/>
            <a:ext cx="548640" cy="45720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01</a:t>
            </a:r>
            <a:endParaRPr lang="en-US" sz="2000" dirty="0"/>
          </a:p>
        </p:txBody>
      </p:sp>
      <p:sp>
        <p:nvSpPr>
          <p:cNvPr id="7" name="Text 4"/>
          <p:cNvSpPr txBox="1"/>
          <p:nvPr/>
        </p:nvSpPr>
        <p:spPr>
          <a:xfrm>
            <a:off x="1371600" y="2011680"/>
            <a:ext cx="4983480" cy="731520"/>
          </a:xfrm>
          <a:prstGeom prst="rect">
            <a:avLst/>
          </a:prstGeom>
          <a:noFill/>
          <a:ln/>
        </p:spPr>
        <p:txBody>
          <a:bodyPr wrap="square" lIns="0" tIns="0" rIns="0" bIns="0" rtlCol="0" anchor="t"/>
          <a:lstStyle/>
          <a:p>
            <a:pPr indent="0" marL="0">
              <a:buNone/>
            </a:pPr>
            <a:r>
              <a:rPr lang="en-US" sz="1500" dirty="0">
                <a:solidFill>
                  <a:schemeClr val="tx1"/>
                </a:solidFill>
              </a:rPr>
              <a:t>Store members, plans, trainers, sessions, bookings and payments in one MySQL database</a:t>
            </a:r>
            <a:endParaRPr lang="en-US" sz="1500" dirty="0"/>
          </a:p>
        </p:txBody>
      </p:sp>
      <p:sp>
        <p:nvSpPr>
          <p:cNvPr id="8" name="Text 5"/>
          <p:cNvSpPr txBox="1"/>
          <p:nvPr/>
        </p:nvSpPr>
        <p:spPr>
          <a:xfrm>
            <a:off x="777240" y="2798064"/>
            <a:ext cx="548640" cy="45720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02</a:t>
            </a:r>
            <a:endParaRPr lang="en-US" sz="2000" dirty="0"/>
          </a:p>
        </p:txBody>
      </p:sp>
      <p:sp>
        <p:nvSpPr>
          <p:cNvPr id="9" name="Text 6"/>
          <p:cNvSpPr txBox="1"/>
          <p:nvPr/>
        </p:nvSpPr>
        <p:spPr>
          <a:xfrm>
            <a:off x="1371600" y="2798064"/>
            <a:ext cx="4983480" cy="731520"/>
          </a:xfrm>
          <a:prstGeom prst="rect">
            <a:avLst/>
          </a:prstGeom>
          <a:noFill/>
          <a:ln/>
        </p:spPr>
        <p:txBody>
          <a:bodyPr wrap="square" lIns="0" tIns="0" rIns="0" bIns="0" rtlCol="0" anchor="t"/>
          <a:lstStyle/>
          <a:p>
            <a:pPr indent="0" marL="0">
              <a:buNone/>
            </a:pPr>
            <a:r>
              <a:rPr lang="en-US" sz="1500" dirty="0">
                <a:solidFill>
                  <a:schemeClr val="tx1"/>
                </a:solidFill>
              </a:rPr>
              <a:t>Design the schema from an ER diagram and normalise it to 3NF</a:t>
            </a:r>
            <a:endParaRPr lang="en-US" sz="1500" dirty="0"/>
          </a:p>
        </p:txBody>
      </p:sp>
      <p:sp>
        <p:nvSpPr>
          <p:cNvPr id="10" name="Text 7"/>
          <p:cNvSpPr txBox="1"/>
          <p:nvPr/>
        </p:nvSpPr>
        <p:spPr>
          <a:xfrm>
            <a:off x="777240" y="3584448"/>
            <a:ext cx="548640" cy="45720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03</a:t>
            </a:r>
            <a:endParaRPr lang="en-US" sz="2000" dirty="0"/>
          </a:p>
        </p:txBody>
      </p:sp>
      <p:sp>
        <p:nvSpPr>
          <p:cNvPr id="11" name="Text 8"/>
          <p:cNvSpPr txBox="1"/>
          <p:nvPr/>
        </p:nvSpPr>
        <p:spPr>
          <a:xfrm>
            <a:off x="1371600" y="3584448"/>
            <a:ext cx="4983480" cy="731520"/>
          </a:xfrm>
          <a:prstGeom prst="rect">
            <a:avLst/>
          </a:prstGeom>
          <a:noFill/>
          <a:ln/>
        </p:spPr>
        <p:txBody>
          <a:bodyPr wrap="square" lIns="0" tIns="0" rIns="0" bIns="0" rtlCol="0" anchor="t"/>
          <a:lstStyle/>
          <a:p>
            <a:pPr indent="0" marL="0">
              <a:buNone/>
            </a:pPr>
            <a:r>
              <a:rPr lang="en-US" sz="1500" dirty="0">
                <a:solidFill>
                  <a:schemeClr val="tx1"/>
                </a:solidFill>
              </a:rPr>
              <a:t>Let the DBMS protect the data with primary keys, foreign keys, UNIQUE, CHECK and NOT NULL</a:t>
            </a:r>
            <a:endParaRPr lang="en-US" sz="1500" dirty="0"/>
          </a:p>
        </p:txBody>
      </p:sp>
      <p:sp>
        <p:nvSpPr>
          <p:cNvPr id="12" name="Text 9"/>
          <p:cNvSpPr txBox="1"/>
          <p:nvPr/>
        </p:nvSpPr>
        <p:spPr>
          <a:xfrm>
            <a:off x="777240" y="4370832"/>
            <a:ext cx="548640" cy="45720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04</a:t>
            </a:r>
            <a:endParaRPr lang="en-US" sz="2000" dirty="0"/>
          </a:p>
        </p:txBody>
      </p:sp>
      <p:sp>
        <p:nvSpPr>
          <p:cNvPr id="13" name="Text 10"/>
          <p:cNvSpPr txBox="1"/>
          <p:nvPr/>
        </p:nvSpPr>
        <p:spPr>
          <a:xfrm>
            <a:off x="1371600" y="4370832"/>
            <a:ext cx="4983480" cy="731520"/>
          </a:xfrm>
          <a:prstGeom prst="rect">
            <a:avLst/>
          </a:prstGeom>
          <a:noFill/>
          <a:ln/>
        </p:spPr>
        <p:txBody>
          <a:bodyPr wrap="square" lIns="0" tIns="0" rIns="0" bIns="0" rtlCol="0" anchor="t"/>
          <a:lstStyle/>
          <a:p>
            <a:pPr indent="0" marL="0">
              <a:buNone/>
            </a:pPr>
            <a:r>
              <a:rPr lang="en-US" sz="1500" dirty="0">
                <a:solidFill>
                  <a:schemeClr val="tx1"/>
                </a:solidFill>
              </a:rPr>
              <a:t>Answer day-to-day questions with joins, aggregates and subqueries</a:t>
            </a:r>
            <a:endParaRPr lang="en-US" sz="1500" dirty="0"/>
          </a:p>
        </p:txBody>
      </p:sp>
      <p:sp>
        <p:nvSpPr>
          <p:cNvPr id="14" name="Text 11"/>
          <p:cNvSpPr txBox="1"/>
          <p:nvPr/>
        </p:nvSpPr>
        <p:spPr>
          <a:xfrm>
            <a:off x="777240" y="5157216"/>
            <a:ext cx="548640" cy="45720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05</a:t>
            </a:r>
            <a:endParaRPr lang="en-US" sz="2000" dirty="0"/>
          </a:p>
        </p:txBody>
      </p:sp>
      <p:sp>
        <p:nvSpPr>
          <p:cNvPr id="15" name="Text 12"/>
          <p:cNvSpPr txBox="1"/>
          <p:nvPr/>
        </p:nvSpPr>
        <p:spPr>
          <a:xfrm>
            <a:off x="1371600" y="5157216"/>
            <a:ext cx="4983480" cy="731520"/>
          </a:xfrm>
          <a:prstGeom prst="rect">
            <a:avLst/>
          </a:prstGeom>
          <a:noFill/>
          <a:ln/>
        </p:spPr>
        <p:txBody>
          <a:bodyPr wrap="square" lIns="0" tIns="0" rIns="0" bIns="0" rtlCol="0" anchor="t"/>
          <a:lstStyle/>
          <a:p>
            <a:pPr indent="0" marL="0">
              <a:buNone/>
            </a:pPr>
            <a:r>
              <a:rPr lang="en-US" sz="1500" dirty="0">
                <a:solidFill>
                  <a:schemeClr val="tx1"/>
                </a:solidFill>
              </a:rPr>
              <a:t>Give staff a simple web interface to insert, delete and view records</a:t>
            </a:r>
            <a:endParaRPr lang="en-US" sz="1500" dirty="0"/>
          </a:p>
        </p:txBody>
      </p:sp>
      <p:sp>
        <p:nvSpPr>
          <p:cNvPr id="16" name="Shape 13"/>
          <p:cNvSpPr/>
          <p:nvPr/>
        </p:nvSpPr>
        <p:spPr>
          <a:xfrm>
            <a:off x="6858000" y="1371600"/>
            <a:ext cx="4754880" cy="2514600"/>
          </a:xfrm>
          <a:prstGeom prst="roundRect">
            <a:avLst>
              <a:gd name="adj" fmla="val 2909"/>
            </a:avLst>
          </a:prstGeom>
          <a:solidFill>
            <a:schemeClr val="bg1"/>
          </a:solidFill>
          <a:ln w="9525">
            <a:solidFill>
              <a:schemeClr val="accent5"/>
            </a:solidFill>
            <a:prstDash val="solid"/>
          </a:ln>
        </p:spPr>
      </p:sp>
      <p:sp>
        <p:nvSpPr>
          <p:cNvPr id="17" name="Text 14"/>
          <p:cNvSpPr txBox="1"/>
          <p:nvPr/>
        </p:nvSpPr>
        <p:spPr>
          <a:xfrm>
            <a:off x="7086600" y="1554480"/>
            <a:ext cx="4297680" cy="320040"/>
          </a:xfrm>
          <a:prstGeom prst="rect">
            <a:avLst/>
          </a:prstGeom>
          <a:noFill/>
          <a:ln/>
        </p:spPr>
        <p:txBody>
          <a:bodyPr wrap="square" lIns="0" tIns="0" rIns="0" bIns="0" rtlCol="0" anchor="t"/>
          <a:lstStyle/>
          <a:p>
            <a:pPr indent="0" marL="0">
              <a:buNone/>
            </a:pPr>
            <a:r>
              <a:rPr lang="en-US" sz="1300" b="1" spc="100" kern="0" dirty="0">
                <a:solidFill>
                  <a:schemeClr val="accent2"/>
                </a:solidFill>
              </a:rPr>
              <a:t>In scope</a:t>
            </a:r>
            <a:endParaRPr lang="en-US" sz="1300" dirty="0"/>
          </a:p>
        </p:txBody>
      </p:sp>
      <p:sp>
        <p:nvSpPr>
          <p:cNvPr id="18" name="Text 15"/>
          <p:cNvSpPr txBox="1"/>
          <p:nvPr/>
        </p:nvSpPr>
        <p:spPr>
          <a:xfrm>
            <a:off x="7086600" y="1920240"/>
            <a:ext cx="4297680" cy="19202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Member registration and plan purchase</a:t>
            </a:r>
            <a:endParaRPr lang="en-US" sz="1400" dirty="0"/>
          </a:p>
          <a:p>
            <a:pPr marL="342900" indent="-342900">
              <a:spcAft>
                <a:spcPts val="700"/>
              </a:spcAft>
              <a:buSzPct val="100000"/>
              <a:buChar char="•"/>
            </a:pPr>
            <a:r>
              <a:rPr lang="en-US" sz="1400" dirty="0">
                <a:solidFill>
                  <a:schemeClr val="tx1"/>
                </a:solidFill>
              </a:rPr>
              <a:t>Fee payments, including part payments</a:t>
            </a:r>
            <a:endParaRPr lang="en-US" sz="1400" dirty="0"/>
          </a:p>
          <a:p>
            <a:pPr marL="342900" indent="-342900">
              <a:spcAft>
                <a:spcPts val="700"/>
              </a:spcAft>
              <a:buSzPct val="100000"/>
              <a:buChar char="•"/>
            </a:pPr>
            <a:r>
              <a:rPr lang="en-US" sz="1400" dirty="0">
                <a:solidFill>
                  <a:schemeClr val="tx1"/>
                </a:solidFill>
              </a:rPr>
              <a:t>Trainer and session scheduling</a:t>
            </a:r>
            <a:endParaRPr lang="en-US" sz="1400" dirty="0"/>
          </a:p>
          <a:p>
            <a:pPr marL="342900" indent="-342900">
              <a:spcAft>
                <a:spcPts val="700"/>
              </a:spcAft>
              <a:buSzPct val="100000"/>
              <a:buChar char="•"/>
            </a:pPr>
            <a:r>
              <a:rPr lang="en-US" sz="1400" dirty="0">
                <a:solidFill>
                  <a:schemeClr val="tx1"/>
                </a:solidFill>
              </a:rPr>
              <a:t>Session booking and attendance</a:t>
            </a:r>
            <a:endParaRPr lang="en-US" sz="1400" dirty="0"/>
          </a:p>
          <a:p>
            <a:pPr marL="342900" indent="-342900">
              <a:spcAft>
                <a:spcPts val="700"/>
              </a:spcAft>
              <a:buSzPct val="100000"/>
              <a:buChar char="•"/>
            </a:pPr>
            <a:r>
              <a:rPr lang="en-US" sz="1400" dirty="0">
                <a:solidFill>
                  <a:schemeClr val="tx1"/>
                </a:solidFill>
              </a:rPr>
              <a:t>Revenue, workload and attendance reports</a:t>
            </a:r>
            <a:endParaRPr lang="en-US" sz="1400" dirty="0"/>
          </a:p>
        </p:txBody>
      </p:sp>
      <p:sp>
        <p:nvSpPr>
          <p:cNvPr id="19" name="Shape 16"/>
          <p:cNvSpPr/>
          <p:nvPr/>
        </p:nvSpPr>
        <p:spPr>
          <a:xfrm>
            <a:off x="6858000" y="4069080"/>
            <a:ext cx="4754880" cy="1965960"/>
          </a:xfrm>
          <a:prstGeom prst="roundRect">
            <a:avLst>
              <a:gd name="adj" fmla="val 3721"/>
            </a:avLst>
          </a:prstGeom>
          <a:solidFill>
            <a:schemeClr val="bg1"/>
          </a:solidFill>
          <a:ln w="9525">
            <a:solidFill>
              <a:schemeClr val="accent5"/>
            </a:solidFill>
            <a:prstDash val="solid"/>
          </a:ln>
        </p:spPr>
      </p:sp>
      <p:sp>
        <p:nvSpPr>
          <p:cNvPr id="20" name="Text 17"/>
          <p:cNvSpPr txBox="1"/>
          <p:nvPr/>
        </p:nvSpPr>
        <p:spPr>
          <a:xfrm>
            <a:off x="7086600" y="4251960"/>
            <a:ext cx="4297680" cy="320040"/>
          </a:xfrm>
          <a:prstGeom prst="rect">
            <a:avLst/>
          </a:prstGeom>
          <a:noFill/>
          <a:ln/>
        </p:spPr>
        <p:txBody>
          <a:bodyPr wrap="square" lIns="0" tIns="0" rIns="0" bIns="0" rtlCol="0" anchor="t"/>
          <a:lstStyle/>
          <a:p>
            <a:pPr indent="0" marL="0">
              <a:buNone/>
            </a:pPr>
            <a:r>
              <a:rPr lang="en-US" sz="1300" b="1" spc="100" kern="0" dirty="0">
                <a:solidFill>
                  <a:schemeClr val="tx2"/>
                </a:solidFill>
              </a:rPr>
              <a:t>Out of scope</a:t>
            </a:r>
            <a:endParaRPr lang="en-US" sz="1300" dirty="0"/>
          </a:p>
        </p:txBody>
      </p:sp>
      <p:sp>
        <p:nvSpPr>
          <p:cNvPr id="21" name="Text 18"/>
          <p:cNvSpPr txBox="1"/>
          <p:nvPr/>
        </p:nvSpPr>
        <p:spPr>
          <a:xfrm>
            <a:off x="7086600" y="4617720"/>
            <a:ext cx="4297680"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Online payment gateway</a:t>
            </a:r>
            <a:endParaRPr lang="en-US" sz="1400" dirty="0"/>
          </a:p>
          <a:p>
            <a:pPr marL="342900" indent="-342900">
              <a:spcAft>
                <a:spcPts val="700"/>
              </a:spcAft>
              <a:buSzPct val="100000"/>
              <a:buChar char="•"/>
            </a:pPr>
            <a:r>
              <a:rPr lang="en-US" sz="1400" dirty="0">
                <a:solidFill>
                  <a:schemeClr val="tx2"/>
                </a:solidFill>
              </a:rPr>
              <a:t>User login and roles</a:t>
            </a:r>
            <a:endParaRPr lang="en-US" sz="1400" dirty="0"/>
          </a:p>
          <a:p>
            <a:pPr marL="342900" indent="-342900">
              <a:spcAft>
                <a:spcPts val="700"/>
              </a:spcAft>
              <a:buSzPct val="100000"/>
              <a:buChar char="•"/>
            </a:pPr>
            <a:r>
              <a:rPr lang="en-US" sz="1400" dirty="0">
                <a:solidFill>
                  <a:schemeClr val="tx2"/>
                </a:solidFill>
              </a:rPr>
              <a:t>Equipment and inventory tracking</a:t>
            </a:r>
            <a:endParaRPr lang="en-US" sz="1400" dirty="0"/>
          </a:p>
          <a:p>
            <a:pPr marL="342900" indent="-342900">
              <a:spcAft>
                <a:spcPts val="700"/>
              </a:spcAft>
              <a:buSzPct val="100000"/>
              <a:buChar char="•"/>
            </a:pPr>
            <a:r>
              <a:rPr lang="en-US" sz="1400" dirty="0">
                <a:solidFill>
                  <a:schemeClr val="tx2"/>
                </a:solidFill>
              </a:rPr>
              <a:t>Mobile app for members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ER diagram: six entities joined by five relationships</a:t>
            </a:r>
            <a:endParaRPr lang="en-US" sz="3200" dirty="0"/>
          </a:p>
        </p:txBody>
      </p:sp>
      <p:pic>
        <p:nvPicPr>
          <p:cNvPr id="4" name="Image 0" descr="screenshot">    </p:cNvPr>
          <p:cNvPicPr>
            <a:picLocks noChangeAspect="1"/>
          </p:cNvPicPr>
          <p:nvPr/>
        </p:nvPicPr>
        <p:blipFill>
          <a:blip r:embed="rId1"/>
          <a:stretch>
            <a:fillRect/>
          </a:stretch>
        </p:blipFill>
        <p:spPr>
          <a:xfrm>
            <a:off x="548640" y="1280160"/>
            <a:ext cx="6035040" cy="4972873"/>
          </a:xfrm>
          <a:prstGeom prst="rect">
            <a:avLst/>
          </a:prstGeom>
        </p:spPr>
      </p:pic>
      <p:sp>
        <p:nvSpPr>
          <p:cNvPr id="5" name="Shape 1"/>
          <p:cNvSpPr/>
          <p:nvPr/>
        </p:nvSpPr>
        <p:spPr>
          <a:xfrm>
            <a:off x="548640" y="1280160"/>
            <a:ext cx="6035040" cy="4972873"/>
          </a:xfrm>
          <a:prstGeom prst="rect">
            <a:avLst/>
          </a:prstGeom>
          <a:ln w="9525">
            <a:solidFill>
              <a:schemeClr val="accent5"/>
            </a:solidFill>
            <a:prstDash val="solid"/>
          </a:ln>
        </p:spPr>
      </p:sp>
      <p:sp>
        <p:nvSpPr>
          <p:cNvPr id="6" name="Shape 2"/>
          <p:cNvSpPr/>
          <p:nvPr/>
        </p:nvSpPr>
        <p:spPr>
          <a:xfrm>
            <a:off x="6858000" y="1280160"/>
            <a:ext cx="4754880" cy="4983480"/>
          </a:xfrm>
          <a:prstGeom prst="roundRect">
            <a:avLst>
              <a:gd name="adj" fmla="val 1538"/>
            </a:avLst>
          </a:prstGeom>
          <a:solidFill>
            <a:schemeClr val="bg1"/>
          </a:solidFill>
          <a:ln w="9525">
            <a:solidFill>
              <a:schemeClr val="accent5"/>
            </a:solidFill>
            <a:prstDash val="solid"/>
          </a:ln>
        </p:spPr>
      </p:sp>
      <p:sp>
        <p:nvSpPr>
          <p:cNvPr id="7" name="Text 3"/>
          <p:cNvSpPr txBox="1"/>
          <p:nvPr/>
        </p:nvSpPr>
        <p:spPr>
          <a:xfrm>
            <a:off x="7086600" y="1463040"/>
            <a:ext cx="4297680" cy="292608"/>
          </a:xfrm>
          <a:prstGeom prst="rect">
            <a:avLst/>
          </a:prstGeom>
          <a:noFill/>
          <a:ln/>
        </p:spPr>
        <p:txBody>
          <a:bodyPr wrap="square" lIns="0" tIns="0" rIns="0" bIns="0" rtlCol="0" anchor="t"/>
          <a:lstStyle/>
          <a:p>
            <a:pPr indent="0" marL="0">
              <a:buNone/>
            </a:pPr>
            <a:r>
              <a:rPr lang="en-US" sz="1400" b="1" dirty="0">
                <a:solidFill>
                  <a:schemeClr val="accent1"/>
                </a:solidFill>
              </a:rPr>
              <a:t>Entities</a:t>
            </a:r>
            <a:endParaRPr lang="en-US" sz="1400" dirty="0"/>
          </a:p>
        </p:txBody>
      </p:sp>
      <p:sp>
        <p:nvSpPr>
          <p:cNvPr id="8" name="Text 4"/>
          <p:cNvSpPr txBox="1"/>
          <p:nvPr/>
        </p:nvSpPr>
        <p:spPr>
          <a:xfrm>
            <a:off x="7086600" y="1764792"/>
            <a:ext cx="4297680" cy="594360"/>
          </a:xfrm>
          <a:prstGeom prst="rect">
            <a:avLst/>
          </a:prstGeom>
          <a:noFill/>
          <a:ln/>
        </p:spPr>
        <p:txBody>
          <a:bodyPr wrap="square" lIns="0" tIns="0" rIns="0" bIns="0" rtlCol="0" anchor="t"/>
          <a:lstStyle/>
          <a:p>
            <a:pPr indent="0" marL="0">
              <a:buNone/>
            </a:pPr>
            <a:r>
              <a:rPr lang="en-US" sz="1400" dirty="0">
                <a:solidFill>
                  <a:schemeClr val="tx1"/>
                </a:solidFill>
              </a:rPr>
              <a:t>MEMBER, MEMBERSHIP_PLAN, MEMBERSHIP, PAYMENT, TRAINER, FITNESS_SESSION</a:t>
            </a:r>
            <a:endParaRPr lang="en-US" sz="1400" dirty="0"/>
          </a:p>
        </p:txBody>
      </p:sp>
      <p:sp>
        <p:nvSpPr>
          <p:cNvPr id="9" name="Text 5"/>
          <p:cNvSpPr txBox="1"/>
          <p:nvPr/>
        </p:nvSpPr>
        <p:spPr>
          <a:xfrm>
            <a:off x="7086600" y="2404872"/>
            <a:ext cx="4297680" cy="292608"/>
          </a:xfrm>
          <a:prstGeom prst="rect">
            <a:avLst/>
          </a:prstGeom>
          <a:noFill/>
          <a:ln/>
        </p:spPr>
        <p:txBody>
          <a:bodyPr wrap="square" lIns="0" tIns="0" rIns="0" bIns="0" rtlCol="0" anchor="t"/>
          <a:lstStyle/>
          <a:p>
            <a:pPr indent="0" marL="0">
              <a:buNone/>
            </a:pPr>
            <a:r>
              <a:rPr lang="en-US" sz="1400" b="1" dirty="0">
                <a:solidFill>
                  <a:schemeClr val="accent1"/>
                </a:solidFill>
              </a:rPr>
              <a:t>Many-to-many</a:t>
            </a:r>
            <a:endParaRPr lang="en-US" sz="1400" dirty="0"/>
          </a:p>
        </p:txBody>
      </p:sp>
      <p:sp>
        <p:nvSpPr>
          <p:cNvPr id="10" name="Text 6"/>
          <p:cNvSpPr txBox="1"/>
          <p:nvPr/>
        </p:nvSpPr>
        <p:spPr>
          <a:xfrm>
            <a:off x="7086600" y="2706624"/>
            <a:ext cx="4297680" cy="594360"/>
          </a:xfrm>
          <a:prstGeom prst="rect">
            <a:avLst/>
          </a:prstGeom>
          <a:noFill/>
          <a:ln/>
        </p:spPr>
        <p:txBody>
          <a:bodyPr wrap="square" lIns="0" tIns="0" rIns="0" bIns="0" rtlCol="0" anchor="t"/>
          <a:lstStyle/>
          <a:p>
            <a:pPr indent="0" marL="0">
              <a:buNone/>
            </a:pPr>
            <a:r>
              <a:rPr lang="en-US" sz="1400" dirty="0">
                <a:solidFill>
                  <a:schemeClr val="tx1"/>
                </a:solidFill>
              </a:rPr>
              <a:t>MEMBER books FITNESS_SESSION, with its own attributes booking_date and attendance</a:t>
            </a:r>
            <a:endParaRPr lang="en-US" sz="1400" dirty="0"/>
          </a:p>
        </p:txBody>
      </p:sp>
      <p:sp>
        <p:nvSpPr>
          <p:cNvPr id="11" name="Text 7"/>
          <p:cNvSpPr txBox="1"/>
          <p:nvPr/>
        </p:nvSpPr>
        <p:spPr>
          <a:xfrm>
            <a:off x="7086600" y="3346704"/>
            <a:ext cx="4297680" cy="292608"/>
          </a:xfrm>
          <a:prstGeom prst="rect">
            <a:avLst/>
          </a:prstGeom>
          <a:noFill/>
          <a:ln/>
        </p:spPr>
        <p:txBody>
          <a:bodyPr wrap="square" lIns="0" tIns="0" rIns="0" bIns="0" rtlCol="0" anchor="t"/>
          <a:lstStyle/>
          <a:p>
            <a:pPr indent="0" marL="0">
              <a:buNone/>
            </a:pPr>
            <a:r>
              <a:rPr lang="en-US" sz="1400" b="1" dirty="0">
                <a:solidFill>
                  <a:schemeClr val="accent1"/>
                </a:solidFill>
              </a:rPr>
              <a:t>Composite attribute</a:t>
            </a:r>
            <a:endParaRPr lang="en-US" sz="1400" dirty="0"/>
          </a:p>
        </p:txBody>
      </p:sp>
      <p:sp>
        <p:nvSpPr>
          <p:cNvPr id="12" name="Text 8"/>
          <p:cNvSpPr txBox="1"/>
          <p:nvPr/>
        </p:nvSpPr>
        <p:spPr>
          <a:xfrm>
            <a:off x="7086600" y="3648456"/>
            <a:ext cx="4297680" cy="594360"/>
          </a:xfrm>
          <a:prstGeom prst="rect">
            <a:avLst/>
          </a:prstGeom>
          <a:noFill/>
          <a:ln/>
        </p:spPr>
        <p:txBody>
          <a:bodyPr wrap="square" lIns="0" tIns="0" rIns="0" bIns="0" rtlCol="0" anchor="t"/>
          <a:lstStyle/>
          <a:p>
            <a:pPr indent="0" marL="0">
              <a:buNone/>
            </a:pPr>
            <a:r>
              <a:rPr lang="en-US" sz="1400" dirty="0">
                <a:solidFill>
                  <a:schemeClr val="tx1"/>
                </a:solidFill>
              </a:rPr>
              <a:t>name = first_name + last_name</a:t>
            </a:r>
            <a:endParaRPr lang="en-US" sz="1400" dirty="0"/>
          </a:p>
        </p:txBody>
      </p:sp>
      <p:sp>
        <p:nvSpPr>
          <p:cNvPr id="13" name="Text 9"/>
          <p:cNvSpPr txBox="1"/>
          <p:nvPr/>
        </p:nvSpPr>
        <p:spPr>
          <a:xfrm>
            <a:off x="7086600" y="4288536"/>
            <a:ext cx="4297680" cy="292608"/>
          </a:xfrm>
          <a:prstGeom prst="rect">
            <a:avLst/>
          </a:prstGeom>
          <a:noFill/>
          <a:ln/>
        </p:spPr>
        <p:txBody>
          <a:bodyPr wrap="square" lIns="0" tIns="0" rIns="0" bIns="0" rtlCol="0" anchor="t"/>
          <a:lstStyle/>
          <a:p>
            <a:pPr indent="0" marL="0">
              <a:buNone/>
            </a:pPr>
            <a:r>
              <a:rPr lang="en-US" sz="1400" b="1" dirty="0">
                <a:solidFill>
                  <a:schemeClr val="accent1"/>
                </a:solidFill>
              </a:rPr>
              <a:t>Derived attribute</a:t>
            </a:r>
            <a:endParaRPr lang="en-US" sz="1400" dirty="0"/>
          </a:p>
        </p:txBody>
      </p:sp>
      <p:sp>
        <p:nvSpPr>
          <p:cNvPr id="14" name="Text 10"/>
          <p:cNvSpPr txBox="1"/>
          <p:nvPr/>
        </p:nvSpPr>
        <p:spPr>
          <a:xfrm>
            <a:off x="7086600" y="4590288"/>
            <a:ext cx="4297680" cy="594360"/>
          </a:xfrm>
          <a:prstGeom prst="rect">
            <a:avLst/>
          </a:prstGeom>
          <a:noFill/>
          <a:ln/>
        </p:spPr>
        <p:txBody>
          <a:bodyPr wrap="square" lIns="0" tIns="0" rIns="0" bIns="0" rtlCol="0" anchor="t"/>
          <a:lstStyle/>
          <a:p>
            <a:pPr indent="0" marL="0">
              <a:buNone/>
            </a:pPr>
            <a:r>
              <a:rPr lang="en-US" sz="1400" dirty="0">
                <a:solidFill>
                  <a:schemeClr val="tx1"/>
                </a:solidFill>
              </a:rPr>
              <a:t>age is calculated from dob, never stored</a:t>
            </a:r>
            <a:endParaRPr lang="en-US" sz="1400" dirty="0"/>
          </a:p>
        </p:txBody>
      </p:sp>
      <p:sp>
        <p:nvSpPr>
          <p:cNvPr id="15" name="Text 11"/>
          <p:cNvSpPr txBox="1"/>
          <p:nvPr/>
        </p:nvSpPr>
        <p:spPr>
          <a:xfrm>
            <a:off x="7086600" y="5230368"/>
            <a:ext cx="4297680" cy="292608"/>
          </a:xfrm>
          <a:prstGeom prst="rect">
            <a:avLst/>
          </a:prstGeom>
          <a:noFill/>
          <a:ln/>
        </p:spPr>
        <p:txBody>
          <a:bodyPr wrap="square" lIns="0" tIns="0" rIns="0" bIns="0" rtlCol="0" anchor="t"/>
          <a:lstStyle/>
          <a:p>
            <a:pPr indent="0" marL="0">
              <a:buNone/>
            </a:pPr>
            <a:r>
              <a:rPr lang="en-US" sz="1400" b="1" dirty="0">
                <a:solidFill>
                  <a:schemeClr val="accent1"/>
                </a:solidFill>
              </a:rPr>
              <a:t>Total participation</a:t>
            </a:r>
            <a:endParaRPr lang="en-US" sz="1400" dirty="0"/>
          </a:p>
        </p:txBody>
      </p:sp>
      <p:sp>
        <p:nvSpPr>
          <p:cNvPr id="16" name="Text 12"/>
          <p:cNvSpPr txBox="1"/>
          <p:nvPr/>
        </p:nvSpPr>
        <p:spPr>
          <a:xfrm>
            <a:off x="7086600" y="5532120"/>
            <a:ext cx="4297680" cy="594360"/>
          </a:xfrm>
          <a:prstGeom prst="rect">
            <a:avLst/>
          </a:prstGeom>
          <a:noFill/>
          <a:ln/>
        </p:spPr>
        <p:txBody>
          <a:bodyPr wrap="square" lIns="0" tIns="0" rIns="0" bIns="0" rtlCol="0" anchor="t"/>
          <a:lstStyle/>
          <a:p>
            <a:pPr indent="0" marL="0">
              <a:buNone/>
            </a:pPr>
            <a:r>
              <a:rPr lang="en-US" sz="1400" dirty="0">
                <a:solidFill>
                  <a:schemeClr val="tx1"/>
                </a:solidFill>
              </a:rPr>
              <a:t>Every MEMBERSHIP, PAYMENT and FITNESS_SESSION must have its parent (double line)</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Relationships, cardinality and participation</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463040"/>
                <a:gridCol w="2834640"/>
                <a:gridCol w="1188720"/>
                <a:gridCol w="2651760"/>
                <a:gridCol w="2926080"/>
              </a:tblGrid>
              <a:tr h="603504">
                <a:tc>
                  <a:txBody>
                    <a:bodyPr/>
                    <a:lstStyle/>
                    <a:p>
                      <a:pPr indent="0" marL="0">
                        <a:buNone/>
                      </a:pPr>
                      <a:r>
                        <a:rPr lang="en-US" sz="1400" b="1" dirty="0">
                          <a:solidFill>
                            <a:schemeClr val="bg1"/>
                          </a:solidFill>
                        </a:rPr>
                        <a:t>Relationship</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Between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Cardinality</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Participation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Meaning</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r>
              <a:tr h="603504">
                <a:tc>
                  <a:txBody>
                    <a:bodyPr/>
                    <a:lstStyle/>
                    <a:p>
                      <a:pPr indent="0" marL="0">
                        <a:buNone/>
                      </a:pPr>
                      <a:r>
                        <a:rPr lang="en-US" sz="1400" b="1" dirty="0">
                          <a:solidFill>
                            <a:schemeClr val="tx1"/>
                          </a:solidFill>
                        </a:rPr>
                        <a:t>HOLDS</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MEMBER - MEMBERSHIP</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1 : 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Member partial, Membership total</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member buys or renews plans many times</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1"/>
                          </a:solidFill>
                        </a:rPr>
                        <a:t>OFFERED AS</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MEMBERSHIP_PLAN - MEMBERSHIP</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1 : 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Plan partial, Membership total</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Each membership is of exactly one plan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1"/>
                          </a:solidFill>
                        </a:rPr>
                        <a:t>PAID BY</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MEMBERSHIP - PAYMENT</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1 : 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Membership partial, Payment total</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membership can be paid in instalments</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1"/>
                          </a:solidFill>
                        </a:rPr>
                        <a:t>CONDUCTS</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TRAINER - FITNESS_SESSION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1 : 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Trainer partial, Session total</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Every session has exactly one trainer</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1"/>
                          </a:solidFill>
                        </a:rPr>
                        <a:t>BOOKS</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MEMBER - FITNESS_SESSION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M : N</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Both partial</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Members book many sessions; sessions have many members</a:t>
                      </a:r>
                      <a:endParaRPr lang="en-US" sz="14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bl>
          </a:graphicData>
        </a:graphic>
      </p:graphicFrame>
      <p:sp>
        <p:nvSpPr>
          <p:cNvPr id="5" name="Shape 1"/>
          <p:cNvSpPr/>
          <p:nvPr/>
        </p:nvSpPr>
        <p:spPr>
          <a:xfrm>
            <a:off x="548640" y="5257800"/>
            <a:ext cx="11064240" cy="868680"/>
          </a:xfrm>
          <a:prstGeom prst="roundRect">
            <a:avLst>
              <a:gd name="adj" fmla="val 8421"/>
            </a:avLst>
          </a:prstGeom>
          <a:solidFill>
            <a:schemeClr val="accent6"/>
          </a:solidFill>
          <a:ln w="9525">
            <a:solidFill>
              <a:schemeClr val="accent5"/>
            </a:solidFill>
            <a:prstDash val="solid"/>
          </a:ln>
        </p:spPr>
      </p:sp>
      <p:sp>
        <p:nvSpPr>
          <p:cNvPr id="6" name="Text 2"/>
          <p:cNvSpPr txBox="1"/>
          <p:nvPr/>
        </p:nvSpPr>
        <p:spPr>
          <a:xfrm>
            <a:off x="777240" y="5257800"/>
            <a:ext cx="10607040" cy="868680"/>
          </a:xfrm>
          <a:prstGeom prst="rect">
            <a:avLst/>
          </a:prstGeom>
          <a:noFill/>
          <a:ln/>
        </p:spPr>
        <p:txBody>
          <a:bodyPr wrap="square" lIns="0" tIns="0" rIns="0" bIns="0" rtlCol="0" anchor="ctr"/>
          <a:lstStyle/>
          <a:p>
            <a:pPr indent="0" marL="0">
              <a:buNone/>
            </a:pPr>
            <a:r>
              <a:rPr lang="en-US" sz="1500" b="1" dirty="0">
                <a:solidFill>
                  <a:schemeClr val="tx1"/>
                </a:solidFill>
              </a:rPr>
              <a:t>Mapping rule used: </a:t>
            </a:r>
            <a:pPr indent="0" marL="0">
              <a:buNone/>
            </a:pPr>
            <a:r>
              <a:rPr lang="en-US" sz="1500" dirty="0">
                <a:solidFill>
                  <a:schemeClr val="tx1"/>
                </a:solidFill>
              </a:rPr>
              <a:t>each 1:N relationship becomes a foreign key on the N side; the M:N relationship BOOKS becomes its own table BOOKING with two foreign keys.</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Relational schema: seven tables</a:t>
            </a:r>
            <a:endParaRPr lang="en-US" sz="3200" dirty="0"/>
          </a:p>
        </p:txBody>
      </p:sp>
      <p:sp>
        <p:nvSpPr>
          <p:cNvPr id="4" name="Shape 1"/>
          <p:cNvSpPr/>
          <p:nvPr/>
        </p:nvSpPr>
        <p:spPr>
          <a:xfrm>
            <a:off x="548640" y="1325880"/>
            <a:ext cx="11064240" cy="4160520"/>
          </a:xfrm>
          <a:prstGeom prst="roundRect">
            <a:avLst>
              <a:gd name="adj" fmla="val 1758"/>
            </a:avLst>
          </a:prstGeom>
          <a:solidFill>
            <a:schemeClr val="bg1"/>
          </a:solidFill>
          <a:ln w="9525">
            <a:solidFill>
              <a:schemeClr val="accent5"/>
            </a:solidFill>
            <a:prstDash val="solid"/>
          </a:ln>
        </p:spPr>
      </p:sp>
      <p:sp>
        <p:nvSpPr>
          <p:cNvPr id="5" name="Text 2"/>
          <p:cNvSpPr txBox="1"/>
          <p:nvPr/>
        </p:nvSpPr>
        <p:spPr>
          <a:xfrm>
            <a:off x="822960" y="1481328"/>
            <a:ext cx="10515600" cy="5029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MEMBERSHIP_PLAN (</a:t>
            </a:r>
            <a:pPr indent="0" marL="0">
              <a:buNone/>
            </a:pPr>
            <a:r>
              <a:rPr lang="en-US" sz="1500" b="1" u="sng" dirty="0">
                <a:solidFill>
                  <a:schemeClr val="tx1"/>
                </a:solidFill>
                <a:latin typeface="Courier New" pitchFamily="34" charset="0"/>
                <a:ea typeface="Courier New" pitchFamily="34" charset="-122"/>
                <a:cs typeface="Courier New" pitchFamily="34" charset="-120"/>
              </a:rPr>
              <a:t>plan_id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plan_name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duration_months</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price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description</a:t>
            </a:r>
            <a:pPr indent="0" marL="0">
              <a:buNone/>
            </a:pPr>
            <a:r>
              <a:rPr lang="en-US" sz="1500" b="1"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6" name="Text 3"/>
          <p:cNvSpPr txBox="1"/>
          <p:nvPr/>
        </p:nvSpPr>
        <p:spPr>
          <a:xfrm>
            <a:off x="822960" y="2039112"/>
            <a:ext cx="10515600" cy="5029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MEMBER (</a:t>
            </a:r>
            <a:pPr indent="0" marL="0">
              <a:buNone/>
            </a:pPr>
            <a:r>
              <a:rPr lang="en-US" sz="1500" b="1" u="sng" dirty="0">
                <a:solidFill>
                  <a:schemeClr val="tx1"/>
                </a:solidFill>
                <a:latin typeface="Courier New" pitchFamily="34" charset="0"/>
                <a:ea typeface="Courier New" pitchFamily="34" charset="-122"/>
                <a:cs typeface="Courier New" pitchFamily="34" charset="-120"/>
              </a:rPr>
              <a:t>member_id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first_name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last_name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gender</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dob</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phone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email</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city</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join_date</a:t>
            </a:r>
            <a:pPr indent="0" marL="0">
              <a:buNone/>
            </a:pPr>
            <a:r>
              <a:rPr lang="en-US" sz="1500" b="1"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7" name="Text 4"/>
          <p:cNvSpPr txBox="1"/>
          <p:nvPr/>
        </p:nvSpPr>
        <p:spPr>
          <a:xfrm>
            <a:off x="822960" y="2596896"/>
            <a:ext cx="10515600" cy="5029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TRAINER (</a:t>
            </a:r>
            <a:pPr indent="0" marL="0">
              <a:buNone/>
            </a:pPr>
            <a:r>
              <a:rPr lang="en-US" sz="1500" b="1" u="sng" dirty="0">
                <a:solidFill>
                  <a:schemeClr val="tx1"/>
                </a:solidFill>
                <a:latin typeface="Courier New" pitchFamily="34" charset="0"/>
                <a:ea typeface="Courier New" pitchFamily="34" charset="-122"/>
                <a:cs typeface="Courier New" pitchFamily="34" charset="-120"/>
              </a:rPr>
              <a:t>trainer_id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trainer_name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specialization</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phone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email</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experience_years</a:t>
            </a:r>
            <a:pPr indent="0" marL="0">
              <a:buNone/>
            </a:pPr>
            <a:r>
              <a:rPr lang="en-US" sz="1500" b="1"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8" name="Text 5"/>
          <p:cNvSpPr txBox="1"/>
          <p:nvPr/>
        </p:nvSpPr>
        <p:spPr>
          <a:xfrm>
            <a:off x="822960" y="3154680"/>
            <a:ext cx="10515600" cy="5029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MEMBERSHIP (</a:t>
            </a:r>
            <a:pPr indent="0" marL="0">
              <a:buNone/>
            </a:pPr>
            <a:r>
              <a:rPr lang="en-US" sz="1500" b="1" u="sng" dirty="0">
                <a:solidFill>
                  <a:schemeClr val="tx1"/>
                </a:solidFill>
                <a:latin typeface="Courier New" pitchFamily="34" charset="0"/>
                <a:ea typeface="Courier New" pitchFamily="34" charset="-122"/>
                <a:cs typeface="Courier New" pitchFamily="34" charset="-120"/>
              </a:rPr>
              <a:t>membership_id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b="1" dirty="0">
                <a:solidFill>
                  <a:schemeClr val="accent1"/>
                </a:solidFill>
                <a:latin typeface="Courier New" pitchFamily="34" charset="0"/>
                <a:ea typeface="Courier New" pitchFamily="34" charset="-122"/>
                <a:cs typeface="Courier New" pitchFamily="34" charset="-120"/>
              </a:rPr>
              <a:t>member_id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b="1" dirty="0">
                <a:solidFill>
                  <a:schemeClr val="accent1"/>
                </a:solidFill>
                <a:latin typeface="Courier New" pitchFamily="34" charset="0"/>
                <a:ea typeface="Courier New" pitchFamily="34" charset="-122"/>
                <a:cs typeface="Courier New" pitchFamily="34" charset="-120"/>
              </a:rPr>
              <a:t>plan_id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start_date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end_date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status</a:t>
            </a:r>
            <a:pPr indent="0" marL="0">
              <a:buNone/>
            </a:pPr>
            <a:r>
              <a:rPr lang="en-US" sz="1500" b="1"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9" name="Text 6"/>
          <p:cNvSpPr txBox="1"/>
          <p:nvPr/>
        </p:nvSpPr>
        <p:spPr>
          <a:xfrm>
            <a:off x="822960" y="3712464"/>
            <a:ext cx="10515600" cy="5029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PAYMENT (</a:t>
            </a:r>
            <a:pPr indent="0" marL="0">
              <a:buNone/>
            </a:pPr>
            <a:r>
              <a:rPr lang="en-US" sz="1500" b="1" u="sng" dirty="0">
                <a:solidFill>
                  <a:schemeClr val="tx1"/>
                </a:solidFill>
                <a:latin typeface="Courier New" pitchFamily="34" charset="0"/>
                <a:ea typeface="Courier New" pitchFamily="34" charset="-122"/>
                <a:cs typeface="Courier New" pitchFamily="34" charset="-120"/>
              </a:rPr>
              <a:t>payment_id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b="1" dirty="0">
                <a:solidFill>
                  <a:schemeClr val="accent1"/>
                </a:solidFill>
                <a:latin typeface="Courier New" pitchFamily="34" charset="0"/>
                <a:ea typeface="Courier New" pitchFamily="34" charset="-122"/>
                <a:cs typeface="Courier New" pitchFamily="34" charset="-120"/>
              </a:rPr>
              <a:t>membership_id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amount</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payment_date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payment_mode</a:t>
            </a:r>
            <a:pPr indent="0" marL="0">
              <a:buNone/>
            </a:pPr>
            <a:r>
              <a:rPr lang="en-US" sz="1500" b="1"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10" name="Text 7"/>
          <p:cNvSpPr txBox="1"/>
          <p:nvPr/>
        </p:nvSpPr>
        <p:spPr>
          <a:xfrm>
            <a:off x="822960" y="4270248"/>
            <a:ext cx="10515600" cy="5029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FITNESS_SESSION (</a:t>
            </a:r>
            <a:pPr indent="0" marL="0">
              <a:buNone/>
            </a:pPr>
            <a:r>
              <a:rPr lang="en-US" sz="1500" b="1" u="sng" dirty="0">
                <a:solidFill>
                  <a:schemeClr val="tx1"/>
                </a:solidFill>
                <a:latin typeface="Courier New" pitchFamily="34" charset="0"/>
                <a:ea typeface="Courier New" pitchFamily="34" charset="-122"/>
                <a:cs typeface="Courier New" pitchFamily="34" charset="-120"/>
              </a:rPr>
              <a:t>session_id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session_name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session_type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b="1" dirty="0">
                <a:solidFill>
                  <a:schemeClr val="accent1"/>
                </a:solidFill>
                <a:latin typeface="Courier New" pitchFamily="34" charset="0"/>
                <a:ea typeface="Courier New" pitchFamily="34" charset="-122"/>
                <a:cs typeface="Courier New" pitchFamily="34" charset="-120"/>
              </a:rPr>
              <a:t>trainer_id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session_date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start_time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duration_min</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capacity</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room</a:t>
            </a:r>
            <a:pPr indent="0" marL="0">
              <a:buNone/>
            </a:pPr>
            <a:r>
              <a:rPr lang="en-US" sz="1500" b="1"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11" name="Text 8"/>
          <p:cNvSpPr txBox="1"/>
          <p:nvPr/>
        </p:nvSpPr>
        <p:spPr>
          <a:xfrm>
            <a:off x="822960" y="4828032"/>
            <a:ext cx="10515600" cy="5029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BOOKING (</a:t>
            </a:r>
            <a:pPr indent="0" marL="0">
              <a:buNone/>
            </a:pPr>
            <a:r>
              <a:rPr lang="en-US" sz="1500" b="1" u="sng" dirty="0">
                <a:solidFill>
                  <a:schemeClr val="tx1"/>
                </a:solidFill>
                <a:latin typeface="Courier New" pitchFamily="34" charset="0"/>
                <a:ea typeface="Courier New" pitchFamily="34" charset="-122"/>
                <a:cs typeface="Courier New" pitchFamily="34" charset="-120"/>
              </a:rPr>
              <a:t>booking_id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b="1" dirty="0">
                <a:solidFill>
                  <a:schemeClr val="accent1"/>
                </a:solidFill>
                <a:latin typeface="Courier New" pitchFamily="34" charset="0"/>
                <a:ea typeface="Courier New" pitchFamily="34" charset="-122"/>
                <a:cs typeface="Courier New" pitchFamily="34" charset="-120"/>
              </a:rPr>
              <a:t>member_id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b="1" dirty="0">
                <a:solidFill>
                  <a:schemeClr val="accent1"/>
                </a:solidFill>
                <a:latin typeface="Courier New" pitchFamily="34" charset="0"/>
                <a:ea typeface="Courier New" pitchFamily="34" charset="-122"/>
                <a:cs typeface="Courier New" pitchFamily="34" charset="-120"/>
              </a:rPr>
              <a:t>session_id</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booking_date</a:t>
            </a:r>
            <a:pPr indent="0" marL="0">
              <a:buNone/>
            </a:pPr>
            <a:r>
              <a:rPr lang="en-US" sz="1500" dirty="0">
                <a:solidFill>
                  <a:schemeClr val="tx1"/>
                </a:solidFill>
                <a:latin typeface="Courier New" pitchFamily="34" charset="0"/>
                <a:ea typeface="Courier New" pitchFamily="34" charset="-122"/>
                <a:cs typeface="Courier New" pitchFamily="34" charset="-120"/>
              </a:rPr>
              <a:t>, </a:t>
            </a:r>
            <a:pPr indent="0" marL="0">
              <a:buNone/>
            </a:pPr>
            <a:r>
              <a:rPr lang="en-US" sz="1500" dirty="0">
                <a:solidFill>
                  <a:schemeClr val="tx1"/>
                </a:solidFill>
                <a:latin typeface="Courier New" pitchFamily="34" charset="0"/>
                <a:ea typeface="Courier New" pitchFamily="34" charset="-122"/>
                <a:cs typeface="Courier New" pitchFamily="34" charset="-120"/>
              </a:rPr>
              <a:t>attendance</a:t>
            </a:r>
            <a:pPr indent="0" marL="0">
              <a:buNone/>
            </a:pPr>
            <a:r>
              <a:rPr lang="en-US" sz="1500" b="1"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12" name="Text 9"/>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400" b="1" u="sng" dirty="0">
                <a:solidFill>
                  <a:schemeClr val="tx2"/>
                </a:solidFill>
              </a:rPr>
              <a:t>underlined</a:t>
            </a:r>
            <a:pPr indent="0" marL="0">
              <a:buNone/>
            </a:pPr>
            <a:r>
              <a:rPr lang="en-US" sz="1400" dirty="0">
                <a:solidFill>
                  <a:schemeClr val="tx2"/>
                </a:solidFill>
              </a:rPr>
              <a:t> = primary key      </a:t>
            </a:r>
            <a:pPr indent="0" marL="0">
              <a:buNone/>
            </a:pPr>
            <a:r>
              <a:rPr lang="en-US" sz="1400" b="1" dirty="0">
                <a:solidFill>
                  <a:schemeClr val="accent1"/>
                </a:solidFill>
              </a:rPr>
              <a:t>orange</a:t>
            </a:r>
            <a:pPr indent="0" marL="0">
              <a:buNone/>
            </a:pPr>
            <a:r>
              <a:rPr lang="en-US" sz="1400" dirty="0">
                <a:solidFill>
                  <a:schemeClr val="tx2"/>
                </a:solidFill>
              </a:rPr>
              <a:t> = foreign key      6 foreign keys, 7 UNIQUE constraints, 12 CHECK constraints in total</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Normalisation: from one wide register to 3NF</a:t>
            </a:r>
            <a:endParaRPr lang="en-US" sz="3200" dirty="0"/>
          </a:p>
        </p:txBody>
      </p:sp>
      <p:sp>
        <p:nvSpPr>
          <p:cNvPr id="4" name="Shape 1"/>
          <p:cNvSpPr/>
          <p:nvPr/>
        </p:nvSpPr>
        <p:spPr>
          <a:xfrm>
            <a:off x="548640" y="1371600"/>
            <a:ext cx="2615184" cy="3977640"/>
          </a:xfrm>
          <a:prstGeom prst="roundRect">
            <a:avLst>
              <a:gd name="adj" fmla="val 2797"/>
            </a:avLst>
          </a:prstGeom>
          <a:solidFill>
            <a:schemeClr val="bg1"/>
          </a:solidFill>
          <a:ln w="9525">
            <a:solidFill>
              <a:schemeClr val="accent5"/>
            </a:solidFill>
            <a:prstDash val="solid"/>
          </a:ln>
        </p:spPr>
      </p:sp>
      <p:sp>
        <p:nvSpPr>
          <p:cNvPr id="5" name="Shape 2"/>
          <p:cNvSpPr/>
          <p:nvPr/>
        </p:nvSpPr>
        <p:spPr>
          <a:xfrm>
            <a:off x="749808" y="1572768"/>
            <a:ext cx="868680" cy="457200"/>
          </a:xfrm>
          <a:prstGeom prst="roundRect">
            <a:avLst>
              <a:gd name="adj" fmla="val 16000"/>
            </a:avLst>
          </a:prstGeom>
          <a:solidFill>
            <a:schemeClr val="tx1"/>
          </a:solidFill>
          <a:ln w="12700">
            <a:solidFill>
              <a:schemeClr val="tx1"/>
            </a:solidFill>
            <a:prstDash val="solid"/>
          </a:ln>
        </p:spPr>
      </p:sp>
      <p:sp>
        <p:nvSpPr>
          <p:cNvPr id="6" name="Text 3"/>
          <p:cNvSpPr txBox="1"/>
          <p:nvPr/>
        </p:nvSpPr>
        <p:spPr>
          <a:xfrm>
            <a:off x="749808" y="1572768"/>
            <a:ext cx="86868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UNF</a:t>
            </a:r>
            <a:endParaRPr lang="en-US" sz="1600" dirty="0"/>
          </a:p>
        </p:txBody>
      </p:sp>
      <p:sp>
        <p:nvSpPr>
          <p:cNvPr id="7" name="Text 4"/>
          <p:cNvSpPr txBox="1"/>
          <p:nvPr/>
        </p:nvSpPr>
        <p:spPr>
          <a:xfrm>
            <a:off x="749808" y="2194560"/>
            <a:ext cx="2240280" cy="365760"/>
          </a:xfrm>
          <a:prstGeom prst="rect">
            <a:avLst/>
          </a:prstGeom>
          <a:noFill/>
          <a:ln/>
        </p:spPr>
        <p:txBody>
          <a:bodyPr wrap="square" lIns="0" tIns="0" rIns="0" bIns="0" rtlCol="0" anchor="t"/>
          <a:lstStyle/>
          <a:p>
            <a:pPr indent="0" marL="0">
              <a:buNone/>
            </a:pPr>
            <a:r>
              <a:rPr lang="en-US" sz="1600" b="1" dirty="0">
                <a:solidFill>
                  <a:schemeClr val="tx1"/>
                </a:solidFill>
              </a:rPr>
              <a:t>One register</a:t>
            </a:r>
            <a:endParaRPr lang="en-US" sz="1600" dirty="0"/>
          </a:p>
        </p:txBody>
      </p:sp>
      <p:sp>
        <p:nvSpPr>
          <p:cNvPr id="8" name="Text 5"/>
          <p:cNvSpPr txBox="1"/>
          <p:nvPr/>
        </p:nvSpPr>
        <p:spPr>
          <a:xfrm>
            <a:off x="749808" y="2606040"/>
            <a:ext cx="2240280" cy="1600200"/>
          </a:xfrm>
          <a:prstGeom prst="rect">
            <a:avLst/>
          </a:prstGeom>
          <a:noFill/>
          <a:ln/>
        </p:spPr>
        <p:txBody>
          <a:bodyPr wrap="square" lIns="0" tIns="0" rIns="0" bIns="0" rtlCol="0" anchor="t"/>
          <a:lstStyle/>
          <a:p>
            <a:pPr indent="0" marL="0">
              <a:buNone/>
            </a:pPr>
            <a:r>
              <a:rPr lang="en-US" sz="1400" dirty="0">
                <a:solidFill>
                  <a:schemeClr val="tx1"/>
                </a:solidFill>
              </a:rPr>
              <a:t>GYM_REGISTER(member, phone, plan, price, sessions booked..., trainer, trainer phone, fees paid...)</a:t>
            </a:r>
            <a:endParaRPr lang="en-US" sz="1400" dirty="0"/>
          </a:p>
        </p:txBody>
      </p:sp>
      <p:sp>
        <p:nvSpPr>
          <p:cNvPr id="9" name="Text 6"/>
          <p:cNvSpPr txBox="1"/>
          <p:nvPr/>
        </p:nvSpPr>
        <p:spPr>
          <a:xfrm>
            <a:off x="749808" y="4297680"/>
            <a:ext cx="2240280" cy="914400"/>
          </a:xfrm>
          <a:prstGeom prst="rect">
            <a:avLst/>
          </a:prstGeom>
          <a:noFill/>
          <a:ln/>
        </p:spPr>
        <p:txBody>
          <a:bodyPr wrap="square" lIns="0" tIns="0" rIns="0" bIns="0" rtlCol="0" anchor="t"/>
          <a:lstStyle/>
          <a:p>
            <a:pPr indent="0" marL="0">
              <a:buNone/>
            </a:pPr>
            <a:r>
              <a:rPr lang="en-US" sz="1400" b="1" dirty="0">
                <a:solidFill>
                  <a:schemeClr val="tx2"/>
                </a:solidFill>
              </a:rPr>
              <a:t>Repeating groups; data repeated in every row</a:t>
            </a:r>
            <a:endParaRPr lang="en-US" sz="1400" dirty="0"/>
          </a:p>
        </p:txBody>
      </p:sp>
      <p:sp>
        <p:nvSpPr>
          <p:cNvPr id="10" name="Shape 7"/>
          <p:cNvSpPr/>
          <p:nvPr/>
        </p:nvSpPr>
        <p:spPr>
          <a:xfrm>
            <a:off x="3364992" y="1371600"/>
            <a:ext cx="2615184" cy="3977640"/>
          </a:xfrm>
          <a:prstGeom prst="roundRect">
            <a:avLst>
              <a:gd name="adj" fmla="val 2797"/>
            </a:avLst>
          </a:prstGeom>
          <a:solidFill>
            <a:schemeClr val="bg1"/>
          </a:solidFill>
          <a:ln w="9525">
            <a:solidFill>
              <a:schemeClr val="accent5"/>
            </a:solidFill>
            <a:prstDash val="solid"/>
          </a:ln>
        </p:spPr>
      </p:sp>
      <p:sp>
        <p:nvSpPr>
          <p:cNvPr id="11" name="Shape 8"/>
          <p:cNvSpPr/>
          <p:nvPr/>
        </p:nvSpPr>
        <p:spPr>
          <a:xfrm>
            <a:off x="3566160" y="1572768"/>
            <a:ext cx="868680" cy="457200"/>
          </a:xfrm>
          <a:prstGeom prst="roundRect">
            <a:avLst>
              <a:gd name="adj" fmla="val 16000"/>
            </a:avLst>
          </a:prstGeom>
          <a:solidFill>
            <a:schemeClr val="tx1"/>
          </a:solidFill>
          <a:ln w="12700">
            <a:solidFill>
              <a:schemeClr val="tx1"/>
            </a:solidFill>
            <a:prstDash val="solid"/>
          </a:ln>
        </p:spPr>
      </p:sp>
      <p:sp>
        <p:nvSpPr>
          <p:cNvPr id="12" name="Text 9"/>
          <p:cNvSpPr txBox="1"/>
          <p:nvPr/>
        </p:nvSpPr>
        <p:spPr>
          <a:xfrm>
            <a:off x="3566160" y="1572768"/>
            <a:ext cx="86868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1NF</a:t>
            </a:r>
            <a:endParaRPr lang="en-US" sz="1600" dirty="0"/>
          </a:p>
        </p:txBody>
      </p:sp>
      <p:sp>
        <p:nvSpPr>
          <p:cNvPr id="13" name="Text 10"/>
          <p:cNvSpPr txBox="1"/>
          <p:nvPr/>
        </p:nvSpPr>
        <p:spPr>
          <a:xfrm>
            <a:off x="3566160" y="2194560"/>
            <a:ext cx="2240280" cy="365760"/>
          </a:xfrm>
          <a:prstGeom prst="rect">
            <a:avLst/>
          </a:prstGeom>
          <a:noFill/>
          <a:ln/>
        </p:spPr>
        <p:txBody>
          <a:bodyPr wrap="square" lIns="0" tIns="0" rIns="0" bIns="0" rtlCol="0" anchor="t"/>
          <a:lstStyle/>
          <a:p>
            <a:pPr indent="0" marL="0">
              <a:buNone/>
            </a:pPr>
            <a:r>
              <a:rPr lang="en-US" sz="1600" b="1" dirty="0">
                <a:solidFill>
                  <a:schemeClr val="tx1"/>
                </a:solidFill>
              </a:rPr>
              <a:t>Atomic values</a:t>
            </a:r>
            <a:endParaRPr lang="en-US" sz="1600" dirty="0"/>
          </a:p>
        </p:txBody>
      </p:sp>
      <p:sp>
        <p:nvSpPr>
          <p:cNvPr id="14" name="Text 11"/>
          <p:cNvSpPr txBox="1"/>
          <p:nvPr/>
        </p:nvSpPr>
        <p:spPr>
          <a:xfrm>
            <a:off x="3566160" y="2606040"/>
            <a:ext cx="2240280" cy="1600200"/>
          </a:xfrm>
          <a:prstGeom prst="rect">
            <a:avLst/>
          </a:prstGeom>
          <a:noFill/>
          <a:ln/>
        </p:spPr>
        <p:txBody>
          <a:bodyPr wrap="square" lIns="0" tIns="0" rIns="0" bIns="0" rtlCol="0" anchor="t"/>
          <a:lstStyle/>
          <a:p>
            <a:pPr indent="0" marL="0">
              <a:buNone/>
            </a:pPr>
            <a:r>
              <a:rPr lang="en-US" sz="1400" dirty="0">
                <a:solidFill>
                  <a:schemeClr val="tx1"/>
                </a:solidFill>
              </a:rPr>
              <a:t>One row per booking and per payment. name split into first_name and last_name.</a:t>
            </a:r>
            <a:endParaRPr lang="en-US" sz="1400" dirty="0"/>
          </a:p>
        </p:txBody>
      </p:sp>
      <p:sp>
        <p:nvSpPr>
          <p:cNvPr id="15" name="Text 12"/>
          <p:cNvSpPr txBox="1"/>
          <p:nvPr/>
        </p:nvSpPr>
        <p:spPr>
          <a:xfrm>
            <a:off x="3566160" y="4297680"/>
            <a:ext cx="2240280" cy="914400"/>
          </a:xfrm>
          <a:prstGeom prst="rect">
            <a:avLst/>
          </a:prstGeom>
          <a:noFill/>
          <a:ln/>
        </p:spPr>
        <p:txBody>
          <a:bodyPr wrap="square" lIns="0" tIns="0" rIns="0" bIns="0" rtlCol="0" anchor="t"/>
          <a:lstStyle/>
          <a:p>
            <a:pPr indent="0" marL="0">
              <a:buNone/>
            </a:pPr>
            <a:r>
              <a:rPr lang="en-US" sz="1400" b="1" dirty="0">
                <a:solidFill>
                  <a:schemeClr val="tx2"/>
                </a:solidFill>
              </a:rPr>
              <a:t>No multi-valued or repeating columns</a:t>
            </a:r>
            <a:endParaRPr lang="en-US" sz="1400" dirty="0"/>
          </a:p>
        </p:txBody>
      </p:sp>
      <p:sp>
        <p:nvSpPr>
          <p:cNvPr id="16" name="Shape 13"/>
          <p:cNvSpPr/>
          <p:nvPr/>
        </p:nvSpPr>
        <p:spPr>
          <a:xfrm>
            <a:off x="6181344" y="1371600"/>
            <a:ext cx="2615184" cy="3977640"/>
          </a:xfrm>
          <a:prstGeom prst="roundRect">
            <a:avLst>
              <a:gd name="adj" fmla="val 2797"/>
            </a:avLst>
          </a:prstGeom>
          <a:solidFill>
            <a:schemeClr val="bg1"/>
          </a:solidFill>
          <a:ln w="9525">
            <a:solidFill>
              <a:schemeClr val="accent5"/>
            </a:solidFill>
            <a:prstDash val="solid"/>
          </a:ln>
        </p:spPr>
      </p:sp>
      <p:sp>
        <p:nvSpPr>
          <p:cNvPr id="17" name="Shape 14"/>
          <p:cNvSpPr/>
          <p:nvPr/>
        </p:nvSpPr>
        <p:spPr>
          <a:xfrm>
            <a:off x="6382512" y="1572768"/>
            <a:ext cx="868680" cy="457200"/>
          </a:xfrm>
          <a:prstGeom prst="roundRect">
            <a:avLst>
              <a:gd name="adj" fmla="val 16000"/>
            </a:avLst>
          </a:prstGeom>
          <a:solidFill>
            <a:schemeClr val="tx1"/>
          </a:solidFill>
          <a:ln w="12700">
            <a:solidFill>
              <a:schemeClr val="tx1"/>
            </a:solidFill>
            <a:prstDash val="solid"/>
          </a:ln>
        </p:spPr>
      </p:sp>
      <p:sp>
        <p:nvSpPr>
          <p:cNvPr id="18" name="Text 15"/>
          <p:cNvSpPr txBox="1"/>
          <p:nvPr/>
        </p:nvSpPr>
        <p:spPr>
          <a:xfrm>
            <a:off x="6382512" y="1572768"/>
            <a:ext cx="86868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2NF</a:t>
            </a:r>
            <a:endParaRPr lang="en-US" sz="1600" dirty="0"/>
          </a:p>
        </p:txBody>
      </p:sp>
      <p:sp>
        <p:nvSpPr>
          <p:cNvPr id="19" name="Text 16"/>
          <p:cNvSpPr txBox="1"/>
          <p:nvPr/>
        </p:nvSpPr>
        <p:spPr>
          <a:xfrm>
            <a:off x="6382512" y="2194560"/>
            <a:ext cx="2240280" cy="365760"/>
          </a:xfrm>
          <a:prstGeom prst="rect">
            <a:avLst/>
          </a:prstGeom>
          <a:noFill/>
          <a:ln/>
        </p:spPr>
        <p:txBody>
          <a:bodyPr wrap="square" lIns="0" tIns="0" rIns="0" bIns="0" rtlCol="0" anchor="t"/>
          <a:lstStyle/>
          <a:p>
            <a:pPr indent="0" marL="0">
              <a:buNone/>
            </a:pPr>
            <a:r>
              <a:rPr lang="en-US" sz="1600" b="1" dirty="0">
                <a:solidFill>
                  <a:schemeClr val="tx1"/>
                </a:solidFill>
              </a:rPr>
              <a:t>No partial dependency</a:t>
            </a:r>
            <a:endParaRPr lang="en-US" sz="1600" dirty="0"/>
          </a:p>
        </p:txBody>
      </p:sp>
      <p:sp>
        <p:nvSpPr>
          <p:cNvPr id="20" name="Text 17"/>
          <p:cNvSpPr txBox="1"/>
          <p:nvPr/>
        </p:nvSpPr>
        <p:spPr>
          <a:xfrm>
            <a:off x="6382512" y="2606040"/>
            <a:ext cx="2240280" cy="1600200"/>
          </a:xfrm>
          <a:prstGeom prst="rect">
            <a:avLst/>
          </a:prstGeom>
          <a:noFill/>
          <a:ln/>
        </p:spPr>
        <p:txBody>
          <a:bodyPr wrap="square" lIns="0" tIns="0" rIns="0" bIns="0" rtlCol="0" anchor="t"/>
          <a:lstStyle/>
          <a:p>
            <a:pPr indent="0" marL="0">
              <a:buNone/>
            </a:pPr>
            <a:r>
              <a:rPr lang="en-US" sz="1400" dirty="0">
                <a:solidFill>
                  <a:schemeClr val="tx1"/>
                </a:solidFill>
              </a:rPr>
              <a:t>Key was (member_id, session_id). member details depend on member_id only; session details on session_id only.</a:t>
            </a:r>
            <a:endParaRPr lang="en-US" sz="1400" dirty="0"/>
          </a:p>
        </p:txBody>
      </p:sp>
      <p:sp>
        <p:nvSpPr>
          <p:cNvPr id="21" name="Text 18"/>
          <p:cNvSpPr txBox="1"/>
          <p:nvPr/>
        </p:nvSpPr>
        <p:spPr>
          <a:xfrm>
            <a:off x="6382512" y="4297680"/>
            <a:ext cx="2240280" cy="914400"/>
          </a:xfrm>
          <a:prstGeom prst="rect">
            <a:avLst/>
          </a:prstGeom>
          <a:noFill/>
          <a:ln/>
        </p:spPr>
        <p:txBody>
          <a:bodyPr wrap="square" lIns="0" tIns="0" rIns="0" bIns="0" rtlCol="0" anchor="t"/>
          <a:lstStyle/>
          <a:p>
            <a:pPr indent="0" marL="0">
              <a:buNone/>
            </a:pPr>
            <a:r>
              <a:rPr lang="en-US" sz="1400" b="1" dirty="0">
                <a:solidFill>
                  <a:schemeClr val="tx2"/>
                </a:solidFill>
              </a:rPr>
              <a:t>Split into MEMBER, FITNESS_SESSION, BOOKING</a:t>
            </a:r>
            <a:endParaRPr lang="en-US" sz="1400" dirty="0"/>
          </a:p>
        </p:txBody>
      </p:sp>
      <p:sp>
        <p:nvSpPr>
          <p:cNvPr id="22" name="Shape 19"/>
          <p:cNvSpPr/>
          <p:nvPr/>
        </p:nvSpPr>
        <p:spPr>
          <a:xfrm>
            <a:off x="8997696" y="1371600"/>
            <a:ext cx="2615184" cy="3977640"/>
          </a:xfrm>
          <a:prstGeom prst="roundRect">
            <a:avLst>
              <a:gd name="adj" fmla="val 2797"/>
            </a:avLst>
          </a:prstGeom>
          <a:solidFill>
            <a:schemeClr val="accent6"/>
          </a:solidFill>
          <a:ln w="9525">
            <a:solidFill>
              <a:schemeClr val="accent5"/>
            </a:solidFill>
            <a:prstDash val="solid"/>
          </a:ln>
        </p:spPr>
      </p:sp>
      <p:sp>
        <p:nvSpPr>
          <p:cNvPr id="23" name="Shape 20"/>
          <p:cNvSpPr/>
          <p:nvPr/>
        </p:nvSpPr>
        <p:spPr>
          <a:xfrm>
            <a:off x="9198864" y="1572768"/>
            <a:ext cx="868680" cy="457200"/>
          </a:xfrm>
          <a:prstGeom prst="roundRect">
            <a:avLst>
              <a:gd name="adj" fmla="val 16000"/>
            </a:avLst>
          </a:prstGeom>
          <a:solidFill>
            <a:schemeClr val="accent1"/>
          </a:solidFill>
          <a:ln w="12700">
            <a:solidFill>
              <a:schemeClr val="tx1"/>
            </a:solidFill>
            <a:prstDash val="solid"/>
          </a:ln>
        </p:spPr>
      </p:sp>
      <p:sp>
        <p:nvSpPr>
          <p:cNvPr id="24" name="Text 21"/>
          <p:cNvSpPr txBox="1"/>
          <p:nvPr/>
        </p:nvSpPr>
        <p:spPr>
          <a:xfrm>
            <a:off x="9198864" y="1572768"/>
            <a:ext cx="86868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3NF</a:t>
            </a:r>
            <a:endParaRPr lang="en-US" sz="1600" dirty="0"/>
          </a:p>
        </p:txBody>
      </p:sp>
      <p:sp>
        <p:nvSpPr>
          <p:cNvPr id="25" name="Text 22"/>
          <p:cNvSpPr txBox="1"/>
          <p:nvPr/>
        </p:nvSpPr>
        <p:spPr>
          <a:xfrm>
            <a:off x="9198864" y="2194560"/>
            <a:ext cx="2240280" cy="365760"/>
          </a:xfrm>
          <a:prstGeom prst="rect">
            <a:avLst/>
          </a:prstGeom>
          <a:noFill/>
          <a:ln/>
        </p:spPr>
        <p:txBody>
          <a:bodyPr wrap="square" lIns="0" tIns="0" rIns="0" bIns="0" rtlCol="0" anchor="t"/>
          <a:lstStyle/>
          <a:p>
            <a:pPr indent="0" marL="0">
              <a:buNone/>
            </a:pPr>
            <a:r>
              <a:rPr lang="en-US" sz="1600" b="1" dirty="0">
                <a:solidFill>
                  <a:schemeClr val="tx1"/>
                </a:solidFill>
              </a:rPr>
              <a:t>No transitive dependency</a:t>
            </a:r>
            <a:endParaRPr lang="en-US" sz="1600" dirty="0"/>
          </a:p>
        </p:txBody>
      </p:sp>
      <p:sp>
        <p:nvSpPr>
          <p:cNvPr id="26" name="Text 23"/>
          <p:cNvSpPr txBox="1"/>
          <p:nvPr/>
        </p:nvSpPr>
        <p:spPr>
          <a:xfrm>
            <a:off x="9198864" y="2606040"/>
            <a:ext cx="2240280" cy="1600200"/>
          </a:xfrm>
          <a:prstGeom prst="rect">
            <a:avLst/>
          </a:prstGeom>
          <a:noFill/>
          <a:ln/>
        </p:spPr>
        <p:txBody>
          <a:bodyPr wrap="square" lIns="0" tIns="0" rIns="0" bIns="0" rtlCol="0" anchor="t"/>
          <a:lstStyle/>
          <a:p>
            <a:pPr indent="0" marL="0">
              <a:buNone/>
            </a:pPr>
            <a:r>
              <a:rPr lang="en-US" sz="1400" dirty="0">
                <a:solidFill>
                  <a:schemeClr val="tx1"/>
                </a:solidFill>
              </a:rPr>
              <a:t>plan_id -&gt; price, duration.  trainer_id -&gt; trainer name, phone.  membership_id -&gt; plan, dates.</a:t>
            </a:r>
            <a:endParaRPr lang="en-US" sz="1400" dirty="0"/>
          </a:p>
        </p:txBody>
      </p:sp>
      <p:sp>
        <p:nvSpPr>
          <p:cNvPr id="27" name="Text 24"/>
          <p:cNvSpPr txBox="1"/>
          <p:nvPr/>
        </p:nvSpPr>
        <p:spPr>
          <a:xfrm>
            <a:off x="9198864" y="4297680"/>
            <a:ext cx="2240280" cy="914400"/>
          </a:xfrm>
          <a:prstGeom prst="rect">
            <a:avLst/>
          </a:prstGeom>
          <a:noFill/>
          <a:ln/>
        </p:spPr>
        <p:txBody>
          <a:bodyPr wrap="square" lIns="0" tIns="0" rIns="0" bIns="0" rtlCol="0" anchor="t"/>
          <a:lstStyle/>
          <a:p>
            <a:pPr indent="0" marL="0">
              <a:buNone/>
            </a:pPr>
            <a:r>
              <a:rPr lang="en-US" sz="1400" b="1" dirty="0">
                <a:solidFill>
                  <a:schemeClr val="accent4"/>
                </a:solidFill>
              </a:rPr>
              <a:t>Split out MEMBERSHIP_PLAN, TRAINER, MEMBERSHIP, PAYMENT</a:t>
            </a:r>
            <a:endParaRPr lang="en-US" sz="1400" dirty="0"/>
          </a:p>
        </p:txBody>
      </p:sp>
      <p:sp>
        <p:nvSpPr>
          <p:cNvPr id="28" name="Text 25"/>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500" dirty="0">
                <a:solidFill>
                  <a:schemeClr val="tx1"/>
                </a:solidFill>
              </a:rPr>
              <a:t>Result: in all seven tables, every non-key attribute depends on the key, the whole key and nothing but the key. Age is not stored because it can be derived from dob.</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Tables are created with keys and constraints built in</a:t>
            </a:r>
            <a:endParaRPr lang="en-US" sz="3200" dirty="0"/>
          </a:p>
        </p:txBody>
      </p:sp>
      <p:sp>
        <p:nvSpPr>
          <p:cNvPr id="4" name="Shape 1"/>
          <p:cNvSpPr/>
          <p:nvPr/>
        </p:nvSpPr>
        <p:spPr>
          <a:xfrm>
            <a:off x="548640" y="1325880"/>
            <a:ext cx="6949440" cy="4846320"/>
          </a:xfrm>
          <a:prstGeom prst="roundRect">
            <a:avLst>
              <a:gd name="adj" fmla="val 1132"/>
            </a:avLst>
          </a:prstGeom>
          <a:solidFill>
            <a:schemeClr val="tx1"/>
          </a:solidFill>
          <a:ln w="12700">
            <a:solidFill>
              <a:schemeClr val="tx1"/>
            </a:solidFill>
            <a:prstDash val="solid"/>
          </a:ln>
        </p:spPr>
      </p:sp>
      <p:sp>
        <p:nvSpPr>
          <p:cNvPr id="5" name="Text 2"/>
          <p:cNvSpPr txBox="1"/>
          <p:nvPr/>
        </p:nvSpPr>
        <p:spPr>
          <a:xfrm>
            <a:off x="713232" y="1453896"/>
            <a:ext cx="6620256" cy="4590288"/>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CREATE DATABASE gym_management;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USE gym_management;</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CREATE TABLE booking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booking_id   INT AUTO_INCREMENT,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member_id    INT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session_id   INT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booking_date DATE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attendance   VARCHAR(10) NOT NULL DEFAULT 'Booked',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CONSTRAINT pk_booking PRIMARY KEY (booking_id),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CONSTRAINT fk_booking_member FOREIGN KEY (member_id)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REFERENCES member (member_id)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ON DELETE CASCADE ON UPDATE CASCADE,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CONSTRAINT fk_booking_session FOREIGN KEY (session_id)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REFERENCES fitness_session (session_id)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ON DELETE CASCADE ON UPDATE CASCADE,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CONSTRAINT uq_booking UNIQUE (member_id, session_id),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CONSTRAINT chk_booking_att CHECK (attendance IN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('Booked','Attended','Missed','Cancelled'))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6" name="Shape 3"/>
          <p:cNvSpPr/>
          <p:nvPr/>
        </p:nvSpPr>
        <p:spPr>
          <a:xfrm>
            <a:off x="7772400" y="1325880"/>
            <a:ext cx="3840480" cy="1097280"/>
          </a:xfrm>
          <a:prstGeom prst="roundRect">
            <a:avLst>
              <a:gd name="adj" fmla="val 6667"/>
            </a:avLst>
          </a:prstGeom>
          <a:solidFill>
            <a:schemeClr val="bg1"/>
          </a:solidFill>
          <a:ln w="9525">
            <a:solidFill>
              <a:schemeClr val="accent5"/>
            </a:solidFill>
            <a:prstDash val="solid"/>
          </a:ln>
        </p:spPr>
      </p:sp>
      <p:sp>
        <p:nvSpPr>
          <p:cNvPr id="7" name="Text 4"/>
          <p:cNvSpPr txBox="1"/>
          <p:nvPr/>
        </p:nvSpPr>
        <p:spPr>
          <a:xfrm>
            <a:off x="7909560" y="1325880"/>
            <a:ext cx="868680" cy="1097280"/>
          </a:xfrm>
          <a:prstGeom prst="rect">
            <a:avLst/>
          </a:prstGeom>
          <a:noFill/>
          <a:ln/>
        </p:spPr>
        <p:txBody>
          <a:bodyPr wrap="square" lIns="0" tIns="0" rIns="0" bIns="0" rtlCol="0" anchor="ctr"/>
          <a:lstStyle/>
          <a:p>
            <a:pPr algn="ctr" indent="0" marL="0">
              <a:buNone/>
            </a:pPr>
            <a:r>
              <a:rPr lang="en-US" sz="3200" b="1" dirty="0">
                <a:solidFill>
                  <a:schemeClr val="accent1"/>
                </a:solidFill>
                <a:latin typeface="Arial" pitchFamily="34" charset="0"/>
                <a:ea typeface="Arial" pitchFamily="34" charset="-122"/>
                <a:cs typeface="Arial" pitchFamily="34" charset="-120"/>
              </a:rPr>
              <a:t>7</a:t>
            </a:r>
            <a:endParaRPr lang="en-US" sz="3200" dirty="0"/>
          </a:p>
        </p:txBody>
      </p:sp>
      <p:sp>
        <p:nvSpPr>
          <p:cNvPr id="8" name="Text 5"/>
          <p:cNvSpPr txBox="1"/>
          <p:nvPr/>
        </p:nvSpPr>
        <p:spPr>
          <a:xfrm>
            <a:off x="8823960" y="1463040"/>
            <a:ext cx="2651760" cy="292608"/>
          </a:xfrm>
          <a:prstGeom prst="rect">
            <a:avLst/>
          </a:prstGeom>
          <a:noFill/>
          <a:ln/>
        </p:spPr>
        <p:txBody>
          <a:bodyPr wrap="square" lIns="0" tIns="0" rIns="0" bIns="0" rtlCol="0" anchor="t"/>
          <a:lstStyle/>
          <a:p>
            <a:pPr indent="0" marL="0">
              <a:buNone/>
            </a:pPr>
            <a:r>
              <a:rPr lang="en-US" sz="1400" b="1" dirty="0">
                <a:solidFill>
                  <a:schemeClr val="tx1"/>
                </a:solidFill>
              </a:rPr>
              <a:t>PRIMARY KEY</a:t>
            </a:r>
            <a:endParaRPr lang="en-US" sz="1400" dirty="0"/>
          </a:p>
        </p:txBody>
      </p:sp>
      <p:sp>
        <p:nvSpPr>
          <p:cNvPr id="9" name="Text 6"/>
          <p:cNvSpPr txBox="1"/>
          <p:nvPr/>
        </p:nvSpPr>
        <p:spPr>
          <a:xfrm>
            <a:off x="8823960" y="1764792"/>
            <a:ext cx="2651760" cy="594360"/>
          </a:xfrm>
          <a:prstGeom prst="rect">
            <a:avLst/>
          </a:prstGeom>
          <a:noFill/>
          <a:ln/>
        </p:spPr>
        <p:txBody>
          <a:bodyPr wrap="square" lIns="0" tIns="0" rIns="0" bIns="0" rtlCol="0" anchor="t"/>
          <a:lstStyle/>
          <a:p>
            <a:pPr indent="0" marL="0">
              <a:buNone/>
            </a:pPr>
            <a:r>
              <a:rPr lang="en-US" sz="1300" dirty="0">
                <a:solidFill>
                  <a:schemeClr val="tx2"/>
                </a:solidFill>
              </a:rPr>
              <a:t>one per table, AUTO_INCREMENT</a:t>
            </a:r>
            <a:endParaRPr lang="en-US" sz="1300" dirty="0"/>
          </a:p>
        </p:txBody>
      </p:sp>
      <p:sp>
        <p:nvSpPr>
          <p:cNvPr id="10" name="Shape 7"/>
          <p:cNvSpPr/>
          <p:nvPr/>
        </p:nvSpPr>
        <p:spPr>
          <a:xfrm>
            <a:off x="7772400" y="2555748"/>
            <a:ext cx="3840480" cy="1097280"/>
          </a:xfrm>
          <a:prstGeom prst="roundRect">
            <a:avLst>
              <a:gd name="adj" fmla="val 6667"/>
            </a:avLst>
          </a:prstGeom>
          <a:solidFill>
            <a:schemeClr val="bg1"/>
          </a:solidFill>
          <a:ln w="9525">
            <a:solidFill>
              <a:schemeClr val="accent5"/>
            </a:solidFill>
            <a:prstDash val="solid"/>
          </a:ln>
        </p:spPr>
      </p:sp>
      <p:sp>
        <p:nvSpPr>
          <p:cNvPr id="11" name="Text 8"/>
          <p:cNvSpPr txBox="1"/>
          <p:nvPr/>
        </p:nvSpPr>
        <p:spPr>
          <a:xfrm>
            <a:off x="7909560" y="2555748"/>
            <a:ext cx="868680" cy="1097280"/>
          </a:xfrm>
          <a:prstGeom prst="rect">
            <a:avLst/>
          </a:prstGeom>
          <a:noFill/>
          <a:ln/>
        </p:spPr>
        <p:txBody>
          <a:bodyPr wrap="square" lIns="0" tIns="0" rIns="0" bIns="0" rtlCol="0" anchor="ctr"/>
          <a:lstStyle/>
          <a:p>
            <a:pPr algn="ctr" indent="0" marL="0">
              <a:buNone/>
            </a:pPr>
            <a:r>
              <a:rPr lang="en-US" sz="3200" b="1" dirty="0">
                <a:solidFill>
                  <a:schemeClr val="accent1"/>
                </a:solidFill>
                <a:latin typeface="Arial" pitchFamily="34" charset="0"/>
                <a:ea typeface="Arial" pitchFamily="34" charset="-122"/>
                <a:cs typeface="Arial" pitchFamily="34" charset="-120"/>
              </a:rPr>
              <a:t>6</a:t>
            </a:r>
            <a:endParaRPr lang="en-US" sz="3200" dirty="0"/>
          </a:p>
        </p:txBody>
      </p:sp>
      <p:sp>
        <p:nvSpPr>
          <p:cNvPr id="12" name="Text 9"/>
          <p:cNvSpPr txBox="1"/>
          <p:nvPr/>
        </p:nvSpPr>
        <p:spPr>
          <a:xfrm>
            <a:off x="8823960" y="2692908"/>
            <a:ext cx="2651760" cy="292608"/>
          </a:xfrm>
          <a:prstGeom prst="rect">
            <a:avLst/>
          </a:prstGeom>
          <a:noFill/>
          <a:ln/>
        </p:spPr>
        <p:txBody>
          <a:bodyPr wrap="square" lIns="0" tIns="0" rIns="0" bIns="0" rtlCol="0" anchor="t"/>
          <a:lstStyle/>
          <a:p>
            <a:pPr indent="0" marL="0">
              <a:buNone/>
            </a:pPr>
            <a:r>
              <a:rPr lang="en-US" sz="1400" b="1" dirty="0">
                <a:solidFill>
                  <a:schemeClr val="tx1"/>
                </a:solidFill>
              </a:rPr>
              <a:t>FOREIGN KEY</a:t>
            </a:r>
            <a:endParaRPr lang="en-US" sz="1400" dirty="0"/>
          </a:p>
        </p:txBody>
      </p:sp>
      <p:sp>
        <p:nvSpPr>
          <p:cNvPr id="13" name="Text 10"/>
          <p:cNvSpPr txBox="1"/>
          <p:nvPr/>
        </p:nvSpPr>
        <p:spPr>
          <a:xfrm>
            <a:off x="8823960" y="2994660"/>
            <a:ext cx="2651760" cy="594360"/>
          </a:xfrm>
          <a:prstGeom prst="rect">
            <a:avLst/>
          </a:prstGeom>
          <a:noFill/>
          <a:ln/>
        </p:spPr>
        <p:txBody>
          <a:bodyPr wrap="square" lIns="0" tIns="0" rIns="0" bIns="0" rtlCol="0" anchor="t"/>
          <a:lstStyle/>
          <a:p>
            <a:pPr indent="0" marL="0">
              <a:buNone/>
            </a:pPr>
            <a:r>
              <a:rPr lang="en-US" sz="1300" dirty="0">
                <a:solidFill>
                  <a:schemeClr val="tx2"/>
                </a:solidFill>
              </a:rPr>
              <a:t>CASCADE for child rows, RESTRICT for plans and trainers</a:t>
            </a:r>
            <a:endParaRPr lang="en-US" sz="1300" dirty="0"/>
          </a:p>
        </p:txBody>
      </p:sp>
      <p:sp>
        <p:nvSpPr>
          <p:cNvPr id="14" name="Shape 11"/>
          <p:cNvSpPr/>
          <p:nvPr/>
        </p:nvSpPr>
        <p:spPr>
          <a:xfrm>
            <a:off x="7772400" y="3785616"/>
            <a:ext cx="3840480" cy="1097280"/>
          </a:xfrm>
          <a:prstGeom prst="roundRect">
            <a:avLst>
              <a:gd name="adj" fmla="val 6667"/>
            </a:avLst>
          </a:prstGeom>
          <a:solidFill>
            <a:schemeClr val="bg1"/>
          </a:solidFill>
          <a:ln w="9525">
            <a:solidFill>
              <a:schemeClr val="accent5"/>
            </a:solidFill>
            <a:prstDash val="solid"/>
          </a:ln>
        </p:spPr>
      </p:sp>
      <p:sp>
        <p:nvSpPr>
          <p:cNvPr id="15" name="Text 12"/>
          <p:cNvSpPr txBox="1"/>
          <p:nvPr/>
        </p:nvSpPr>
        <p:spPr>
          <a:xfrm>
            <a:off x="7909560" y="3785616"/>
            <a:ext cx="868680" cy="1097280"/>
          </a:xfrm>
          <a:prstGeom prst="rect">
            <a:avLst/>
          </a:prstGeom>
          <a:noFill/>
          <a:ln/>
        </p:spPr>
        <p:txBody>
          <a:bodyPr wrap="square" lIns="0" tIns="0" rIns="0" bIns="0" rtlCol="0" anchor="ctr"/>
          <a:lstStyle/>
          <a:p>
            <a:pPr algn="ctr" indent="0" marL="0">
              <a:buNone/>
            </a:pPr>
            <a:r>
              <a:rPr lang="en-US" sz="3200" b="1" dirty="0">
                <a:solidFill>
                  <a:schemeClr val="accent1"/>
                </a:solidFill>
                <a:latin typeface="Arial" pitchFamily="34" charset="0"/>
                <a:ea typeface="Arial" pitchFamily="34" charset="-122"/>
                <a:cs typeface="Arial" pitchFamily="34" charset="-120"/>
              </a:rPr>
              <a:t>7</a:t>
            </a:r>
            <a:endParaRPr lang="en-US" sz="3200" dirty="0"/>
          </a:p>
        </p:txBody>
      </p:sp>
      <p:sp>
        <p:nvSpPr>
          <p:cNvPr id="16" name="Text 13"/>
          <p:cNvSpPr txBox="1"/>
          <p:nvPr/>
        </p:nvSpPr>
        <p:spPr>
          <a:xfrm>
            <a:off x="8823960" y="3922776"/>
            <a:ext cx="2651760" cy="292608"/>
          </a:xfrm>
          <a:prstGeom prst="rect">
            <a:avLst/>
          </a:prstGeom>
          <a:noFill/>
          <a:ln/>
        </p:spPr>
        <p:txBody>
          <a:bodyPr wrap="square" lIns="0" tIns="0" rIns="0" bIns="0" rtlCol="0" anchor="t"/>
          <a:lstStyle/>
          <a:p>
            <a:pPr indent="0" marL="0">
              <a:buNone/>
            </a:pPr>
            <a:r>
              <a:rPr lang="en-US" sz="1400" b="1" dirty="0">
                <a:solidFill>
                  <a:schemeClr val="tx1"/>
                </a:solidFill>
              </a:rPr>
              <a:t>UNIQUE</a:t>
            </a:r>
            <a:endParaRPr lang="en-US" sz="1400" dirty="0"/>
          </a:p>
        </p:txBody>
      </p:sp>
      <p:sp>
        <p:nvSpPr>
          <p:cNvPr id="17" name="Text 14"/>
          <p:cNvSpPr txBox="1"/>
          <p:nvPr/>
        </p:nvSpPr>
        <p:spPr>
          <a:xfrm>
            <a:off x="8823960" y="4224528"/>
            <a:ext cx="2651760" cy="594360"/>
          </a:xfrm>
          <a:prstGeom prst="rect">
            <a:avLst/>
          </a:prstGeom>
          <a:noFill/>
          <a:ln/>
        </p:spPr>
        <p:txBody>
          <a:bodyPr wrap="square" lIns="0" tIns="0" rIns="0" bIns="0" rtlCol="0" anchor="t"/>
          <a:lstStyle/>
          <a:p>
            <a:pPr indent="0" marL="0">
              <a:buNone/>
            </a:pPr>
            <a:r>
              <a:rPr lang="en-US" sz="1300" dirty="0">
                <a:solidFill>
                  <a:schemeClr val="tx2"/>
                </a:solidFill>
              </a:rPr>
              <a:t>phone, email, plan name, room slot, member + session</a:t>
            </a:r>
            <a:endParaRPr lang="en-US" sz="1300" dirty="0"/>
          </a:p>
        </p:txBody>
      </p:sp>
      <p:sp>
        <p:nvSpPr>
          <p:cNvPr id="18" name="Shape 15"/>
          <p:cNvSpPr/>
          <p:nvPr/>
        </p:nvSpPr>
        <p:spPr>
          <a:xfrm>
            <a:off x="7772400" y="5015484"/>
            <a:ext cx="3840480" cy="1097280"/>
          </a:xfrm>
          <a:prstGeom prst="roundRect">
            <a:avLst>
              <a:gd name="adj" fmla="val 6667"/>
            </a:avLst>
          </a:prstGeom>
          <a:solidFill>
            <a:schemeClr val="bg1"/>
          </a:solidFill>
          <a:ln w="9525">
            <a:solidFill>
              <a:schemeClr val="accent5"/>
            </a:solidFill>
            <a:prstDash val="solid"/>
          </a:ln>
        </p:spPr>
      </p:sp>
      <p:sp>
        <p:nvSpPr>
          <p:cNvPr id="19" name="Text 16"/>
          <p:cNvSpPr txBox="1"/>
          <p:nvPr/>
        </p:nvSpPr>
        <p:spPr>
          <a:xfrm>
            <a:off x="7909560" y="5015484"/>
            <a:ext cx="868680" cy="1097280"/>
          </a:xfrm>
          <a:prstGeom prst="rect">
            <a:avLst/>
          </a:prstGeom>
          <a:noFill/>
          <a:ln/>
        </p:spPr>
        <p:txBody>
          <a:bodyPr wrap="square" lIns="0" tIns="0" rIns="0" bIns="0" rtlCol="0" anchor="ctr"/>
          <a:lstStyle/>
          <a:p>
            <a:pPr algn="ctr" indent="0" marL="0">
              <a:buNone/>
            </a:pPr>
            <a:r>
              <a:rPr lang="en-US" sz="3200" b="1" dirty="0">
                <a:solidFill>
                  <a:schemeClr val="accent1"/>
                </a:solidFill>
                <a:latin typeface="Arial" pitchFamily="34" charset="0"/>
                <a:ea typeface="Arial" pitchFamily="34" charset="-122"/>
                <a:cs typeface="Arial" pitchFamily="34" charset="-120"/>
              </a:rPr>
              <a:t>12</a:t>
            </a:r>
            <a:endParaRPr lang="en-US" sz="3200" dirty="0"/>
          </a:p>
        </p:txBody>
      </p:sp>
      <p:sp>
        <p:nvSpPr>
          <p:cNvPr id="20" name="Text 17"/>
          <p:cNvSpPr txBox="1"/>
          <p:nvPr/>
        </p:nvSpPr>
        <p:spPr>
          <a:xfrm>
            <a:off x="8823960" y="5152644"/>
            <a:ext cx="2651760" cy="292608"/>
          </a:xfrm>
          <a:prstGeom prst="rect">
            <a:avLst/>
          </a:prstGeom>
          <a:noFill/>
          <a:ln/>
        </p:spPr>
        <p:txBody>
          <a:bodyPr wrap="square" lIns="0" tIns="0" rIns="0" bIns="0" rtlCol="0" anchor="t"/>
          <a:lstStyle/>
          <a:p>
            <a:pPr indent="0" marL="0">
              <a:buNone/>
            </a:pPr>
            <a:r>
              <a:rPr lang="en-US" sz="1400" b="1" dirty="0">
                <a:solidFill>
                  <a:schemeClr val="tx1"/>
                </a:solidFill>
              </a:rPr>
              <a:t>CHECK</a:t>
            </a:r>
            <a:endParaRPr lang="en-US" sz="1400" dirty="0"/>
          </a:p>
        </p:txBody>
      </p:sp>
      <p:sp>
        <p:nvSpPr>
          <p:cNvPr id="21" name="Text 18"/>
          <p:cNvSpPr txBox="1"/>
          <p:nvPr/>
        </p:nvSpPr>
        <p:spPr>
          <a:xfrm>
            <a:off x="8823960" y="5454396"/>
            <a:ext cx="2651760" cy="594360"/>
          </a:xfrm>
          <a:prstGeom prst="rect">
            <a:avLst/>
          </a:prstGeom>
          <a:noFill/>
          <a:ln/>
        </p:spPr>
        <p:txBody>
          <a:bodyPr wrap="square" lIns="0" tIns="0" rIns="0" bIns="0" rtlCol="0" anchor="t"/>
          <a:lstStyle/>
          <a:p>
            <a:pPr indent="0" marL="0">
              <a:buNone/>
            </a:pPr>
            <a:r>
              <a:rPr lang="en-US" sz="1300" dirty="0">
                <a:solidFill>
                  <a:schemeClr val="tx2"/>
                </a:solidFill>
              </a:rPr>
              <a:t>price &gt; 0, end_date &gt; start_date, allowed status values</a:t>
            </a:r>
            <a:endParaRPr lang="en-US" sz="13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Every table holds more than the required five records</a:t>
            </a:r>
            <a:endParaRPr lang="en-US" sz="3200" dirty="0"/>
          </a:p>
        </p:txBody>
      </p:sp>
      <p:sp>
        <p:nvSpPr>
          <p:cNvPr id="4" name="Shape 1"/>
          <p:cNvSpPr/>
          <p:nvPr/>
        </p:nvSpPr>
        <p:spPr>
          <a:xfrm>
            <a:off x="548640" y="1325880"/>
            <a:ext cx="6949440" cy="2834640"/>
          </a:xfrm>
          <a:prstGeom prst="roundRect">
            <a:avLst>
              <a:gd name="adj" fmla="val 1935"/>
            </a:avLst>
          </a:prstGeom>
          <a:solidFill>
            <a:schemeClr val="tx1"/>
          </a:solidFill>
          <a:ln w="12700">
            <a:solidFill>
              <a:schemeClr val="tx1"/>
            </a:solidFill>
            <a:prstDash val="solid"/>
          </a:ln>
        </p:spPr>
      </p:sp>
      <p:sp>
        <p:nvSpPr>
          <p:cNvPr id="5" name="Text 2"/>
          <p:cNvSpPr txBox="1"/>
          <p:nvPr/>
        </p:nvSpPr>
        <p:spPr>
          <a:xfrm>
            <a:off x="713232" y="1453896"/>
            <a:ext cx="6620256" cy="2578608"/>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INSERT INTO member (first_name, last_name, gender, dob,</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phone, email, city, join_date) VALUES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('Arjun', 'Reddy', 'M', '2001-03-14', '9876543210',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'arjun.reddy@example.com', 'Hyderabad', '2026-06-01'),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('Sneha', 'Iyer',  'F', '1999-11-02', '9876543211',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'sneha.iyer@example.com', 'Secunderabad', '2026-07-10'),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6 more rows;</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INSERT INTO booking (member_id, session_id, booking_date,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attendance) VALUES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(1, 1, '2026-10-03', 'Attended'), ... 14 more rows;</a:t>
            </a:r>
            <a:endParaRPr lang="en-US" sz="1200" dirty="0"/>
          </a:p>
        </p:txBody>
      </p:sp>
      <p:sp>
        <p:nvSpPr>
          <p:cNvPr id="6" name="Shape 3"/>
          <p:cNvSpPr/>
          <p:nvPr/>
        </p:nvSpPr>
        <p:spPr>
          <a:xfrm>
            <a:off x="548640" y="4389120"/>
            <a:ext cx="6949440" cy="1783080"/>
          </a:xfrm>
          <a:prstGeom prst="roundRect">
            <a:avLst>
              <a:gd name="adj" fmla="val 4103"/>
            </a:avLst>
          </a:prstGeom>
          <a:solidFill>
            <a:schemeClr val="accent6"/>
          </a:solidFill>
          <a:ln w="9525">
            <a:solidFill>
              <a:schemeClr val="accent5"/>
            </a:solidFill>
            <a:prstDash val="solid"/>
          </a:ln>
        </p:spPr>
      </p:sp>
      <p:sp>
        <p:nvSpPr>
          <p:cNvPr id="7" name="Text 4"/>
          <p:cNvSpPr txBox="1"/>
          <p:nvPr/>
        </p:nvSpPr>
        <p:spPr>
          <a:xfrm>
            <a:off x="777240" y="4526280"/>
            <a:ext cx="6492240" cy="292608"/>
          </a:xfrm>
          <a:prstGeom prst="rect">
            <a:avLst/>
          </a:prstGeom>
          <a:noFill/>
          <a:ln/>
        </p:spPr>
        <p:txBody>
          <a:bodyPr wrap="square" lIns="0" tIns="0" rIns="0" bIns="0" rtlCol="0" anchor="t"/>
          <a:lstStyle/>
          <a:p>
            <a:pPr indent="0" marL="0">
              <a:buNone/>
            </a:pPr>
            <a:r>
              <a:rPr lang="en-US" sz="1400" b="1" dirty="0">
                <a:solidFill>
                  <a:schemeClr val="accent4"/>
                </a:solidFill>
              </a:rPr>
              <a:t>Test data chosen on purpose</a:t>
            </a:r>
            <a:endParaRPr lang="en-US" sz="1400" dirty="0"/>
          </a:p>
        </p:txBody>
      </p:sp>
      <p:sp>
        <p:nvSpPr>
          <p:cNvPr id="8" name="Text 5"/>
          <p:cNvSpPr txBox="1"/>
          <p:nvPr/>
        </p:nvSpPr>
        <p:spPr>
          <a:xfrm>
            <a:off x="777240" y="4846320"/>
            <a:ext cx="6492240" cy="12801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A member with no plan and a plan nobody bought (shows LEFT JOIN)</a:t>
            </a:r>
            <a:endParaRPr lang="en-US" sz="1400" dirty="0"/>
          </a:p>
          <a:p>
            <a:pPr marL="342900" indent="-342900">
              <a:spcAft>
                <a:spcPts val="700"/>
              </a:spcAft>
              <a:buSzPct val="100000"/>
              <a:buChar char="•"/>
            </a:pPr>
            <a:r>
              <a:rPr lang="en-US" sz="1400" dirty="0">
                <a:solidFill>
                  <a:schemeClr val="tx1"/>
                </a:solidFill>
              </a:rPr>
              <a:t>A session with zero bookings and a part-paid membership</a:t>
            </a:r>
            <a:endParaRPr lang="en-US" sz="1400" dirty="0"/>
          </a:p>
          <a:p>
            <a:pPr marL="342900" indent="-342900">
              <a:spcAft>
                <a:spcPts val="700"/>
              </a:spcAft>
              <a:buSzPct val="100000"/>
              <a:buChar char="•"/>
            </a:pPr>
            <a:r>
              <a:rPr lang="en-US" sz="1400" dirty="0">
                <a:solidFill>
                  <a:schemeClr val="tx1"/>
                </a:solidFill>
              </a:rPr>
              <a:t>Past sessions with Attended / Missed, future ones with Booked</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0" y="1325880"/>
          <a:ext cx="3840480" cy="914400"/>
        </p:xfrm>
        <a:graphic>
          <a:graphicData uri="http://schemas.openxmlformats.org/drawingml/2006/table">
            <a:tbl>
              <a:tblPr/>
              <a:tblGrid>
                <a:gridCol w="2743200"/>
                <a:gridCol w="1097280"/>
              </a:tblGrid>
              <a:tr h="548640">
                <a:tc>
                  <a:txBody>
                    <a:bodyPr/>
                    <a:lstStyle/>
                    <a:p>
                      <a:pPr algn="l" indent="0" marL="0">
                        <a:buNone/>
                      </a:pPr>
                      <a:r>
                        <a:rPr lang="en-US" sz="1400" b="1" dirty="0">
                          <a:solidFill>
                            <a:schemeClr val="bg1"/>
                          </a:solidFill>
                        </a:rPr>
                        <a:t>Table</a:t>
                      </a:r>
                      <a:endParaRPr lang="en-US" sz="14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Rows</a:t>
                      </a:r>
                      <a:endParaRPr lang="en-US" sz="14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r>
              <a:tr h="548640">
                <a:tc>
                  <a:txBody>
                    <a:bodyPr/>
                    <a:lstStyle/>
                    <a:p>
                      <a:pPr indent="0" marL="0">
                        <a:buNone/>
                      </a:pPr>
                      <a:r>
                        <a:rPr lang="en-US" sz="1400" dirty="0">
                          <a:solidFill>
                            <a:srgbClr val="000000"/>
                          </a:solidFill>
                          <a:latin typeface="Courier New" pitchFamily="34" charset="0"/>
                          <a:ea typeface="Courier New" pitchFamily="34" charset="-122"/>
                          <a:cs typeface="Courier New" pitchFamily="34" charset="-120"/>
                        </a:rPr>
                        <a:t>membership_plan</a:t>
                      </a:r>
                      <a:endParaRPr lang="en-US" sz="1400" dirty="0">
                        <a:latin typeface="Courier New" charset="0"/>
                        <a:ea typeface="Courier New" charset="0"/>
                        <a:cs typeface="Courier New" charset="0"/>
                      </a:endParaRPr>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1"/>
                          </a:solidFill>
                        </a:rPr>
                        <a:t>6</a:t>
                      </a:r>
                      <a:endParaRPr lang="en-US" sz="15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rgbClr val="000000"/>
                          </a:solidFill>
                          <a:latin typeface="Courier New" pitchFamily="34" charset="0"/>
                          <a:ea typeface="Courier New" pitchFamily="34" charset="-122"/>
                          <a:cs typeface="Courier New" pitchFamily="34" charset="-120"/>
                        </a:rPr>
                        <a:t>member</a:t>
                      </a:r>
                      <a:endParaRPr lang="en-US" sz="1400" dirty="0">
                        <a:latin typeface="Courier New" charset="0"/>
                        <a:ea typeface="Courier New" charset="0"/>
                        <a:cs typeface="Courier New" charset="0"/>
                      </a:endParaRPr>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1"/>
                          </a:solidFill>
                        </a:rPr>
                        <a:t>8</a:t>
                      </a:r>
                      <a:endParaRPr lang="en-US" sz="15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rgbClr val="000000"/>
                          </a:solidFill>
                          <a:latin typeface="Courier New" pitchFamily="34" charset="0"/>
                          <a:ea typeface="Courier New" pitchFamily="34" charset="-122"/>
                          <a:cs typeface="Courier New" pitchFamily="34" charset="-120"/>
                        </a:rPr>
                        <a:t>trainer</a:t>
                      </a:r>
                      <a:endParaRPr lang="en-US" sz="1400" dirty="0">
                        <a:latin typeface="Courier New" charset="0"/>
                        <a:ea typeface="Courier New" charset="0"/>
                        <a:cs typeface="Courier New" charset="0"/>
                      </a:endParaRPr>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1"/>
                          </a:solidFill>
                        </a:rPr>
                        <a:t>6</a:t>
                      </a:r>
                      <a:endParaRPr lang="en-US" sz="15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rgbClr val="000000"/>
                          </a:solidFill>
                          <a:latin typeface="Courier New" pitchFamily="34" charset="0"/>
                          <a:ea typeface="Courier New" pitchFamily="34" charset="-122"/>
                          <a:cs typeface="Courier New" pitchFamily="34" charset="-120"/>
                        </a:rPr>
                        <a:t>membership</a:t>
                      </a:r>
                      <a:endParaRPr lang="en-US" sz="1400" dirty="0">
                        <a:latin typeface="Courier New" charset="0"/>
                        <a:ea typeface="Courier New" charset="0"/>
                        <a:cs typeface="Courier New" charset="0"/>
                      </a:endParaRPr>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1"/>
                          </a:solidFill>
                        </a:rPr>
                        <a:t>8</a:t>
                      </a:r>
                      <a:endParaRPr lang="en-US" sz="15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rgbClr val="000000"/>
                          </a:solidFill>
                          <a:latin typeface="Courier New" pitchFamily="34" charset="0"/>
                          <a:ea typeface="Courier New" pitchFamily="34" charset="-122"/>
                          <a:cs typeface="Courier New" pitchFamily="34" charset="-120"/>
                        </a:rPr>
                        <a:t>payment</a:t>
                      </a:r>
                      <a:endParaRPr lang="en-US" sz="1400" dirty="0">
                        <a:latin typeface="Courier New" charset="0"/>
                        <a:ea typeface="Courier New" charset="0"/>
                        <a:cs typeface="Courier New" charset="0"/>
                      </a:endParaRPr>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1"/>
                          </a:solidFill>
                        </a:rPr>
                        <a:t>9</a:t>
                      </a:r>
                      <a:endParaRPr lang="en-US" sz="15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rgbClr val="000000"/>
                          </a:solidFill>
                          <a:latin typeface="Courier New" pitchFamily="34" charset="0"/>
                          <a:ea typeface="Courier New" pitchFamily="34" charset="-122"/>
                          <a:cs typeface="Courier New" pitchFamily="34" charset="-120"/>
                        </a:rPr>
                        <a:t>fitness_session</a:t>
                      </a:r>
                      <a:endParaRPr lang="en-US" sz="1400" dirty="0">
                        <a:latin typeface="Courier New" charset="0"/>
                        <a:ea typeface="Courier New" charset="0"/>
                        <a:cs typeface="Courier New" charset="0"/>
                      </a:endParaRPr>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1"/>
                          </a:solidFill>
                        </a:rPr>
                        <a:t>7</a:t>
                      </a:r>
                      <a:endParaRPr lang="en-US" sz="15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548640">
                <a:tc>
                  <a:txBody>
                    <a:bodyPr/>
                    <a:lstStyle/>
                    <a:p>
                      <a:pPr indent="0" marL="0">
                        <a:buNone/>
                      </a:pPr>
                      <a:r>
                        <a:rPr lang="en-US" sz="1400" dirty="0">
                          <a:solidFill>
                            <a:srgbClr val="000000"/>
                          </a:solidFill>
                          <a:latin typeface="Courier New" pitchFamily="34" charset="0"/>
                          <a:ea typeface="Courier New" pitchFamily="34" charset="-122"/>
                          <a:cs typeface="Courier New" pitchFamily="34" charset="-120"/>
                        </a:rPr>
                        <a:t>booking</a:t>
                      </a:r>
                      <a:endParaRPr lang="en-US" sz="1400" dirty="0">
                        <a:latin typeface="Courier New" charset="0"/>
                        <a:ea typeface="Courier New" charset="0"/>
                        <a:cs typeface="Courier New" charset="0"/>
                      </a:endParaRPr>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algn="r" indent="0" marL="0">
                        <a:buNone/>
                      </a:pPr>
                      <a:r>
                        <a:rPr lang="en-US" sz="1500" b="1" dirty="0">
                          <a:solidFill>
                            <a:schemeClr val="accent1"/>
                          </a:solidFill>
                        </a:rPr>
                        <a:t>15</a:t>
                      </a:r>
                      <a:endParaRPr lang="en-US" sz="1500" dirty="0"/>
                    </a:p>
                  </a:txBody>
                  <a:tcPr marL="109728" marR="109728"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bl>
          </a:graphicData>
        </a:graphic>
      </p:graphicFrame>
      <p:sp>
        <p:nvSpPr>
          <p:cNvPr id="10" name="Text 6"/>
          <p:cNvSpPr txBox="1"/>
          <p:nvPr/>
        </p:nvSpPr>
        <p:spPr>
          <a:xfrm>
            <a:off x="7772400" y="5833872"/>
            <a:ext cx="3840480" cy="320040"/>
          </a:xfrm>
          <a:prstGeom prst="rect">
            <a:avLst/>
          </a:prstGeom>
          <a:noFill/>
          <a:ln/>
        </p:spPr>
        <p:txBody>
          <a:bodyPr wrap="square" lIns="0" tIns="0" rIns="0" bIns="0" rtlCol="0" anchor="t"/>
          <a:lstStyle/>
          <a:p>
            <a:pPr algn="r" indent="0" marL="0">
              <a:buNone/>
            </a:pPr>
            <a:r>
              <a:rPr lang="en-US" sz="1400" b="1" dirty="0">
                <a:solidFill>
                  <a:schemeClr val="tx2"/>
                </a:solidFill>
              </a:rPr>
              <a:t>59 records in total</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four-table join shows who booked which session</a:t>
            </a:r>
            <a:endParaRPr lang="en-US" sz="3200" dirty="0"/>
          </a:p>
        </p:txBody>
      </p:sp>
      <p:sp>
        <p:nvSpPr>
          <p:cNvPr id="4" name="Shape 1"/>
          <p:cNvSpPr/>
          <p:nvPr/>
        </p:nvSpPr>
        <p:spPr>
          <a:xfrm>
            <a:off x="548640" y="1325880"/>
            <a:ext cx="5852160" cy="2514600"/>
          </a:xfrm>
          <a:prstGeom prst="roundRect">
            <a:avLst>
              <a:gd name="adj" fmla="val 2182"/>
            </a:avLst>
          </a:prstGeom>
          <a:solidFill>
            <a:schemeClr val="tx1"/>
          </a:solidFill>
          <a:ln w="12700">
            <a:solidFill>
              <a:schemeClr val="tx1"/>
            </a:solidFill>
            <a:prstDash val="solid"/>
          </a:ln>
        </p:spPr>
      </p:sp>
      <p:sp>
        <p:nvSpPr>
          <p:cNvPr id="5" name="Text 2"/>
          <p:cNvSpPr txBox="1"/>
          <p:nvPr/>
        </p:nvSpPr>
        <p:spPr>
          <a:xfrm>
            <a:off x="713232" y="1453896"/>
            <a:ext cx="5522976" cy="2258568"/>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SELECT b.booking_id,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CONCAT(m.first_name,' ',m.last_name) AS member_name,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s.session_name, t.trainer_name, b.attendance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FROM   booking 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JOIN   member m          ON m.member_id  = b.member_id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JOIN   fitness_session s ON s.session_id = b.session_id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JOIN   trainer t         ON t.trainer_id = s.trainer_id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ORDER  BY s.session_date, member_name;</a:t>
            </a:r>
            <a:endParaRPr lang="en-US" sz="1100" dirty="0"/>
          </a:p>
        </p:txBody>
      </p:sp>
      <p:sp>
        <p:nvSpPr>
          <p:cNvPr id="6" name="Shape 3"/>
          <p:cNvSpPr/>
          <p:nvPr/>
        </p:nvSpPr>
        <p:spPr>
          <a:xfrm>
            <a:off x="548640" y="4023360"/>
            <a:ext cx="5852160" cy="2148840"/>
          </a:xfrm>
          <a:prstGeom prst="roundRect">
            <a:avLst>
              <a:gd name="adj" fmla="val 2553"/>
            </a:avLst>
          </a:prstGeom>
          <a:solidFill>
            <a:schemeClr val="tx1"/>
          </a:solidFill>
          <a:ln w="12700">
            <a:solidFill>
              <a:schemeClr val="tx1"/>
            </a:solidFill>
            <a:prstDash val="solid"/>
          </a:ln>
        </p:spPr>
      </p:sp>
      <p:sp>
        <p:nvSpPr>
          <p:cNvPr id="7" name="Text 4"/>
          <p:cNvSpPr txBox="1"/>
          <p:nvPr/>
        </p:nvSpPr>
        <p:spPr>
          <a:xfrm>
            <a:off x="713232" y="4151376"/>
            <a:ext cx="5522976" cy="1892808"/>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member_name  | session_name      | trainer_name   | attendance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Ananya Gupta | Morning Yoga Flow | Divya Menon    | Attended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Arjun Reddy  | Morning Yoga Flow | Divya Menon    | Attended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Arjun Reddy  | Strength Basics   | Rohit Malhotra | Attended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Priya Sharma | Morning Yoga Flow | Divya Menon    | Missed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 15 rows in set</a:t>
            </a:r>
            <a:endParaRPr lang="en-US" sz="1000" dirty="0"/>
          </a:p>
        </p:txBody>
      </p:sp>
      <p:sp>
        <p:nvSpPr>
          <p:cNvPr id="8" name="Shape 5"/>
          <p:cNvSpPr/>
          <p:nvPr/>
        </p:nvSpPr>
        <p:spPr>
          <a:xfrm>
            <a:off x="6583680" y="1325880"/>
            <a:ext cx="5029200" cy="2514600"/>
          </a:xfrm>
          <a:prstGeom prst="roundRect">
            <a:avLst>
              <a:gd name="adj" fmla="val 2182"/>
            </a:avLst>
          </a:prstGeom>
          <a:solidFill>
            <a:schemeClr val="tx1"/>
          </a:solidFill>
          <a:ln w="12700">
            <a:solidFill>
              <a:schemeClr val="tx1"/>
            </a:solidFill>
            <a:prstDash val="solid"/>
          </a:ln>
        </p:spPr>
      </p:sp>
      <p:sp>
        <p:nvSpPr>
          <p:cNvPr id="9" name="Text 6"/>
          <p:cNvSpPr txBox="1"/>
          <p:nvPr/>
        </p:nvSpPr>
        <p:spPr>
          <a:xfrm>
            <a:off x="6748272" y="1453896"/>
            <a:ext cx="4700016" cy="2258568"/>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 LEFT JOIN + COUNT: seats left per session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SELECT s.session_name, s.capacity,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COUNT(b.booking_id) AS seats_booked,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s.capacity - COUNT(b.booking_id) AS seats_left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FROM   fitness_session 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LEFT   JOIN booking b ON b.session_id = s.session_id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GROUP  BY s.session_id, s.session_name, s.capacity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ORDER  BY seats_booked DESC;</a:t>
            </a:r>
            <a:endParaRPr lang="en-US" sz="1100" dirty="0"/>
          </a:p>
        </p:txBody>
      </p:sp>
      <p:sp>
        <p:nvSpPr>
          <p:cNvPr id="10" name="Shape 7"/>
          <p:cNvSpPr/>
          <p:nvPr/>
        </p:nvSpPr>
        <p:spPr>
          <a:xfrm>
            <a:off x="6583680" y="4023360"/>
            <a:ext cx="5029200" cy="2148840"/>
          </a:xfrm>
          <a:prstGeom prst="roundRect">
            <a:avLst>
              <a:gd name="adj" fmla="val 2553"/>
            </a:avLst>
          </a:prstGeom>
          <a:solidFill>
            <a:schemeClr val="tx1"/>
          </a:solidFill>
          <a:ln w="12700">
            <a:solidFill>
              <a:schemeClr val="tx1"/>
            </a:solidFill>
            <a:prstDash val="solid"/>
          </a:ln>
        </p:spPr>
      </p:sp>
      <p:sp>
        <p:nvSpPr>
          <p:cNvPr id="11" name="Text 8"/>
          <p:cNvSpPr txBox="1"/>
          <p:nvPr/>
        </p:nvSpPr>
        <p:spPr>
          <a:xfrm>
            <a:off x="6748272" y="4151376"/>
            <a:ext cx="4700016" cy="1892808"/>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session_name      | seats_booked | seats_left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Morning Yoga Flow |            4 |         16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Strength Basics   |            3 |          9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Advanced Lifting  |            2 |          8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             |              |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Power Yoga        |            0 |         20 |</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Aggregate queries turn the records into answers</a:t>
            </a:r>
            <a:endParaRPr lang="en-US" sz="3200" dirty="0"/>
          </a:p>
        </p:txBody>
      </p:sp>
      <p:sp>
        <p:nvSpPr>
          <p:cNvPr id="4" name="Shape 1"/>
          <p:cNvSpPr/>
          <p:nvPr/>
        </p:nvSpPr>
        <p:spPr>
          <a:xfrm>
            <a:off x="548640" y="1325880"/>
            <a:ext cx="5760720" cy="2240280"/>
          </a:xfrm>
          <a:prstGeom prst="roundRect">
            <a:avLst>
              <a:gd name="adj" fmla="val 2449"/>
            </a:avLst>
          </a:prstGeom>
          <a:solidFill>
            <a:schemeClr val="tx1"/>
          </a:solidFill>
          <a:ln w="12700">
            <a:solidFill>
              <a:schemeClr val="tx1"/>
            </a:solidFill>
            <a:prstDash val="solid"/>
          </a:ln>
        </p:spPr>
      </p:sp>
      <p:sp>
        <p:nvSpPr>
          <p:cNvPr id="5" name="Text 2"/>
          <p:cNvSpPr txBox="1"/>
          <p:nvPr/>
        </p:nvSpPr>
        <p:spPr>
          <a:xfrm>
            <a:off x="713232" y="1453896"/>
            <a:ext cx="5431536" cy="1984248"/>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SELECT p.plan_name,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COUNT(DISTINCT ms.membership_id) AS times_sold,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COALESCE(SUM(pay.amount), 0)     AS revenue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FROM   membership_plan p</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LEFT   JOIN membership ms ON ms.plan_id = p.plan_id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LEFT   JOIN payment pay ON pay.membership_id = ms.membership_id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GROUP  BY p.plan_id, p.plan_name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ORDER  BY revenue DESC;</a:t>
            </a:r>
            <a:endParaRPr lang="en-US" sz="1050" dirty="0"/>
          </a:p>
        </p:txBody>
      </p:sp>
      <p:sp>
        <p:nvSpPr>
          <p:cNvPr id="6" name="Shape 3"/>
          <p:cNvSpPr/>
          <p:nvPr/>
        </p:nvSpPr>
        <p:spPr>
          <a:xfrm>
            <a:off x="548640" y="3749040"/>
            <a:ext cx="5760720" cy="2423160"/>
          </a:xfrm>
          <a:prstGeom prst="roundRect">
            <a:avLst>
              <a:gd name="adj" fmla="val 2264"/>
            </a:avLst>
          </a:prstGeom>
          <a:solidFill>
            <a:schemeClr val="tx1"/>
          </a:solidFill>
          <a:ln w="12700">
            <a:solidFill>
              <a:schemeClr val="tx1"/>
            </a:solidFill>
            <a:prstDash val="solid"/>
          </a:ln>
        </p:spPr>
      </p:sp>
      <p:sp>
        <p:nvSpPr>
          <p:cNvPr id="7" name="Text 4"/>
          <p:cNvSpPr txBox="1"/>
          <p:nvPr/>
        </p:nvSpPr>
        <p:spPr>
          <a:xfrm>
            <a:off x="713232" y="3877056"/>
            <a:ext cx="5431536" cy="2167128"/>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plan_name          | times_sold | revenue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Annual Premium     |          2 | 26000.00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Half-Yearly Plus   |          2 | 13500.00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Quarterly Standard |          2 |  8000.00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Monthly Basic      |          1 |  1500.00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Student Monthly    |          1 |  1000.00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Annual Elite       |          0 |     0.00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8" name="Shape 5"/>
          <p:cNvSpPr/>
          <p:nvPr/>
        </p:nvSpPr>
        <p:spPr>
          <a:xfrm>
            <a:off x="6583680" y="1325880"/>
            <a:ext cx="2468880" cy="1234440"/>
          </a:xfrm>
          <a:prstGeom prst="roundRect">
            <a:avLst>
              <a:gd name="adj" fmla="val 5926"/>
            </a:avLst>
          </a:prstGeom>
          <a:solidFill>
            <a:schemeClr val="bg1"/>
          </a:solidFill>
          <a:ln w="9525">
            <a:solidFill>
              <a:schemeClr val="accent5"/>
            </a:solidFill>
            <a:prstDash val="solid"/>
          </a:ln>
        </p:spPr>
      </p:sp>
      <p:sp>
        <p:nvSpPr>
          <p:cNvPr id="9" name="Text 6"/>
          <p:cNvSpPr txBox="1"/>
          <p:nvPr/>
        </p:nvSpPr>
        <p:spPr>
          <a:xfrm>
            <a:off x="6720840" y="1435608"/>
            <a:ext cx="2194560" cy="502920"/>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9</a:t>
            </a:r>
            <a:endParaRPr lang="en-US" sz="2600" dirty="0"/>
          </a:p>
        </p:txBody>
      </p:sp>
      <p:sp>
        <p:nvSpPr>
          <p:cNvPr id="10" name="Text 7"/>
          <p:cNvSpPr txBox="1"/>
          <p:nvPr/>
        </p:nvSpPr>
        <p:spPr>
          <a:xfrm>
            <a:off x="6720840" y="1947672"/>
            <a:ext cx="2194560" cy="274320"/>
          </a:xfrm>
          <a:prstGeom prst="rect">
            <a:avLst/>
          </a:prstGeom>
          <a:noFill/>
          <a:ln/>
        </p:spPr>
        <p:txBody>
          <a:bodyPr wrap="square" lIns="0" tIns="0" rIns="0" bIns="0" rtlCol="0" anchor="t"/>
          <a:lstStyle/>
          <a:p>
            <a:pPr indent="0" marL="0">
              <a:buNone/>
            </a:pPr>
            <a:r>
              <a:rPr lang="en-US" sz="1300" dirty="0">
                <a:solidFill>
                  <a:schemeClr val="tx1"/>
                </a:solidFill>
              </a:rPr>
              <a:t>payments</a:t>
            </a:r>
            <a:endParaRPr lang="en-US" sz="1300" dirty="0"/>
          </a:p>
        </p:txBody>
      </p:sp>
      <p:sp>
        <p:nvSpPr>
          <p:cNvPr id="11" name="Text 8"/>
          <p:cNvSpPr txBox="1"/>
          <p:nvPr/>
        </p:nvSpPr>
        <p:spPr>
          <a:xfrm>
            <a:off x="6720840" y="2212848"/>
            <a:ext cx="219456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COUNT(*)</a:t>
            </a:r>
            <a:endParaRPr lang="en-US" sz="1100" dirty="0"/>
          </a:p>
        </p:txBody>
      </p:sp>
      <p:sp>
        <p:nvSpPr>
          <p:cNvPr id="12" name="Shape 9"/>
          <p:cNvSpPr/>
          <p:nvPr/>
        </p:nvSpPr>
        <p:spPr>
          <a:xfrm>
            <a:off x="9144000" y="1325880"/>
            <a:ext cx="2468880" cy="1234440"/>
          </a:xfrm>
          <a:prstGeom prst="roundRect">
            <a:avLst>
              <a:gd name="adj" fmla="val 5926"/>
            </a:avLst>
          </a:prstGeom>
          <a:solidFill>
            <a:schemeClr val="bg1"/>
          </a:solidFill>
          <a:ln w="9525">
            <a:solidFill>
              <a:schemeClr val="accent5"/>
            </a:solidFill>
            <a:prstDash val="solid"/>
          </a:ln>
        </p:spPr>
      </p:sp>
      <p:sp>
        <p:nvSpPr>
          <p:cNvPr id="13" name="Text 10"/>
          <p:cNvSpPr txBox="1"/>
          <p:nvPr/>
        </p:nvSpPr>
        <p:spPr>
          <a:xfrm>
            <a:off x="9281160" y="1435608"/>
            <a:ext cx="2194560" cy="502920"/>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50,000</a:t>
            </a:r>
            <a:endParaRPr lang="en-US" sz="2600" dirty="0"/>
          </a:p>
        </p:txBody>
      </p:sp>
      <p:sp>
        <p:nvSpPr>
          <p:cNvPr id="14" name="Text 11"/>
          <p:cNvSpPr txBox="1"/>
          <p:nvPr/>
        </p:nvSpPr>
        <p:spPr>
          <a:xfrm>
            <a:off x="9281160" y="1947672"/>
            <a:ext cx="2194560" cy="274320"/>
          </a:xfrm>
          <a:prstGeom prst="rect">
            <a:avLst/>
          </a:prstGeom>
          <a:noFill/>
          <a:ln/>
        </p:spPr>
        <p:txBody>
          <a:bodyPr wrap="square" lIns="0" tIns="0" rIns="0" bIns="0" rtlCol="0" anchor="t"/>
          <a:lstStyle/>
          <a:p>
            <a:pPr indent="0" marL="0">
              <a:buNone/>
            </a:pPr>
            <a:r>
              <a:rPr lang="en-US" sz="1300" dirty="0">
                <a:solidFill>
                  <a:schemeClr val="tx1"/>
                </a:solidFill>
              </a:rPr>
              <a:t>rupees collected</a:t>
            </a:r>
            <a:endParaRPr lang="en-US" sz="1300" dirty="0"/>
          </a:p>
        </p:txBody>
      </p:sp>
      <p:sp>
        <p:nvSpPr>
          <p:cNvPr id="15" name="Text 12"/>
          <p:cNvSpPr txBox="1"/>
          <p:nvPr/>
        </p:nvSpPr>
        <p:spPr>
          <a:xfrm>
            <a:off x="9281160" y="2212848"/>
            <a:ext cx="219456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SUM(amount)</a:t>
            </a:r>
            <a:endParaRPr lang="en-US" sz="1100" dirty="0"/>
          </a:p>
        </p:txBody>
      </p:sp>
      <p:sp>
        <p:nvSpPr>
          <p:cNvPr id="16" name="Shape 13"/>
          <p:cNvSpPr/>
          <p:nvPr/>
        </p:nvSpPr>
        <p:spPr>
          <a:xfrm>
            <a:off x="6583680" y="2697480"/>
            <a:ext cx="2468880" cy="1234440"/>
          </a:xfrm>
          <a:prstGeom prst="roundRect">
            <a:avLst>
              <a:gd name="adj" fmla="val 5926"/>
            </a:avLst>
          </a:prstGeom>
          <a:solidFill>
            <a:schemeClr val="bg1"/>
          </a:solidFill>
          <a:ln w="9525">
            <a:solidFill>
              <a:schemeClr val="accent5"/>
            </a:solidFill>
            <a:prstDash val="solid"/>
          </a:ln>
        </p:spPr>
      </p:sp>
      <p:sp>
        <p:nvSpPr>
          <p:cNvPr id="17" name="Text 14"/>
          <p:cNvSpPr txBox="1"/>
          <p:nvPr/>
        </p:nvSpPr>
        <p:spPr>
          <a:xfrm>
            <a:off x="6720840" y="2807208"/>
            <a:ext cx="2194560" cy="502920"/>
          </a:xfrm>
          <a:prstGeom prst="rect">
            <a:avLst/>
          </a:prstGeom>
          <a:noFill/>
          <a:ln/>
        </p:spPr>
        <p:txBody>
          <a:bodyPr wrap="square" lIns="0" tIns="0" rIns="0" bIns="0" rtlCol="0" anchor="ctr"/>
          <a:lstStyle/>
          <a:p>
            <a:pPr indent="0" marL="0">
              <a:buNone/>
            </a:pPr>
            <a:r>
              <a:rPr lang="en-US" sz="2600" b="1" dirty="0">
                <a:solidFill>
                  <a:schemeClr val="accent1"/>
                </a:solidFill>
                <a:latin typeface="Arial" pitchFamily="34" charset="0"/>
                <a:ea typeface="Arial" pitchFamily="34" charset="-122"/>
                <a:cs typeface="Arial" pitchFamily="34" charset="-120"/>
              </a:rPr>
              <a:t>5,555.56</a:t>
            </a:r>
            <a:endParaRPr lang="en-US" sz="2600" dirty="0"/>
          </a:p>
        </p:txBody>
      </p:sp>
      <p:sp>
        <p:nvSpPr>
          <p:cNvPr id="18" name="Text 15"/>
          <p:cNvSpPr txBox="1"/>
          <p:nvPr/>
        </p:nvSpPr>
        <p:spPr>
          <a:xfrm>
            <a:off x="6720840" y="3319272"/>
            <a:ext cx="2194560" cy="274320"/>
          </a:xfrm>
          <a:prstGeom prst="rect">
            <a:avLst/>
          </a:prstGeom>
          <a:noFill/>
          <a:ln/>
        </p:spPr>
        <p:txBody>
          <a:bodyPr wrap="square" lIns="0" tIns="0" rIns="0" bIns="0" rtlCol="0" anchor="t"/>
          <a:lstStyle/>
          <a:p>
            <a:pPr indent="0" marL="0">
              <a:buNone/>
            </a:pPr>
            <a:r>
              <a:rPr lang="en-US" sz="1300" dirty="0">
                <a:solidFill>
                  <a:schemeClr val="tx1"/>
                </a:solidFill>
              </a:rPr>
              <a:t>average payment</a:t>
            </a:r>
            <a:endParaRPr lang="en-US" sz="1300" dirty="0"/>
          </a:p>
        </p:txBody>
      </p:sp>
      <p:sp>
        <p:nvSpPr>
          <p:cNvPr id="19" name="Text 16"/>
          <p:cNvSpPr txBox="1"/>
          <p:nvPr/>
        </p:nvSpPr>
        <p:spPr>
          <a:xfrm>
            <a:off x="6720840" y="3584448"/>
            <a:ext cx="219456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AVG(amount)</a:t>
            </a:r>
            <a:endParaRPr lang="en-US" sz="1100" dirty="0"/>
          </a:p>
        </p:txBody>
      </p:sp>
      <p:sp>
        <p:nvSpPr>
          <p:cNvPr id="20" name="Shape 17"/>
          <p:cNvSpPr/>
          <p:nvPr/>
        </p:nvSpPr>
        <p:spPr>
          <a:xfrm>
            <a:off x="9144000" y="2697480"/>
            <a:ext cx="2468880" cy="1234440"/>
          </a:xfrm>
          <a:prstGeom prst="roundRect">
            <a:avLst>
              <a:gd name="adj" fmla="val 5926"/>
            </a:avLst>
          </a:prstGeom>
          <a:solidFill>
            <a:schemeClr val="bg1"/>
          </a:solidFill>
          <a:ln w="9525">
            <a:solidFill>
              <a:schemeClr val="accent5"/>
            </a:solidFill>
            <a:prstDash val="solid"/>
          </a:ln>
        </p:spPr>
      </p:sp>
      <p:sp>
        <p:nvSpPr>
          <p:cNvPr id="21" name="Text 18"/>
          <p:cNvSpPr txBox="1"/>
          <p:nvPr/>
        </p:nvSpPr>
        <p:spPr>
          <a:xfrm>
            <a:off x="9281160" y="2807208"/>
            <a:ext cx="2194560" cy="50292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1,000 / 13,000</a:t>
            </a:r>
            <a:endParaRPr lang="en-US" sz="2000" dirty="0"/>
          </a:p>
        </p:txBody>
      </p:sp>
      <p:sp>
        <p:nvSpPr>
          <p:cNvPr id="22" name="Text 19"/>
          <p:cNvSpPr txBox="1"/>
          <p:nvPr/>
        </p:nvSpPr>
        <p:spPr>
          <a:xfrm>
            <a:off x="9281160" y="3319272"/>
            <a:ext cx="2194560" cy="274320"/>
          </a:xfrm>
          <a:prstGeom prst="rect">
            <a:avLst/>
          </a:prstGeom>
          <a:noFill/>
          <a:ln/>
        </p:spPr>
        <p:txBody>
          <a:bodyPr wrap="square" lIns="0" tIns="0" rIns="0" bIns="0" rtlCol="0" anchor="t"/>
          <a:lstStyle/>
          <a:p>
            <a:pPr indent="0" marL="0">
              <a:buNone/>
            </a:pPr>
            <a:r>
              <a:rPr lang="en-US" sz="1300" dirty="0">
                <a:solidFill>
                  <a:schemeClr val="tx1"/>
                </a:solidFill>
              </a:rPr>
              <a:t>smallest / largest</a:t>
            </a:r>
            <a:endParaRPr lang="en-US" sz="1300" dirty="0"/>
          </a:p>
        </p:txBody>
      </p:sp>
      <p:sp>
        <p:nvSpPr>
          <p:cNvPr id="23" name="Text 20"/>
          <p:cNvSpPr txBox="1"/>
          <p:nvPr/>
        </p:nvSpPr>
        <p:spPr>
          <a:xfrm>
            <a:off x="9281160" y="3584448"/>
            <a:ext cx="219456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MIN, MAX</a:t>
            </a:r>
            <a:endParaRPr lang="en-US" sz="1100" dirty="0"/>
          </a:p>
        </p:txBody>
      </p:sp>
      <p:sp>
        <p:nvSpPr>
          <p:cNvPr id="24" name="Shape 21"/>
          <p:cNvSpPr/>
          <p:nvPr/>
        </p:nvSpPr>
        <p:spPr>
          <a:xfrm>
            <a:off x="6583680" y="4114800"/>
            <a:ext cx="5029200" cy="2057400"/>
          </a:xfrm>
          <a:prstGeom prst="roundRect">
            <a:avLst>
              <a:gd name="adj" fmla="val 2667"/>
            </a:avLst>
          </a:prstGeom>
          <a:solidFill>
            <a:schemeClr val="tx1"/>
          </a:solidFill>
          <a:ln w="12700">
            <a:solidFill>
              <a:schemeClr val="tx1"/>
            </a:solidFill>
            <a:prstDash val="solid"/>
          </a:ln>
        </p:spPr>
      </p:sp>
      <p:sp>
        <p:nvSpPr>
          <p:cNvPr id="25" name="Text 22"/>
          <p:cNvSpPr txBox="1"/>
          <p:nvPr/>
        </p:nvSpPr>
        <p:spPr>
          <a:xfrm>
            <a:off x="6748272" y="4242816"/>
            <a:ext cx="4700016" cy="1801368"/>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 GROUP BY + HAVING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SELECT CONCAT(m.first_name,' ',m.last_name)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AS member_name,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COUNT(*) AS sessions_booked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FROM   booking 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JOIN   member m ON m.member_id = b.member_id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GROUP  BY m.member_id, member_name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HAVING COUNT(*) &gt; 2;     -- returns 3 members</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interface is a Flask web app connected to MySQL</a:t>
            </a:r>
            <a:endParaRPr lang="en-US" sz="3200" dirty="0"/>
          </a:p>
        </p:txBody>
      </p:sp>
      <p:sp>
        <p:nvSpPr>
          <p:cNvPr id="4" name="Shape 1"/>
          <p:cNvSpPr/>
          <p:nvPr/>
        </p:nvSpPr>
        <p:spPr>
          <a:xfrm>
            <a:off x="548640" y="1371600"/>
            <a:ext cx="2377440" cy="1051560"/>
          </a:xfrm>
          <a:prstGeom prst="roundRect">
            <a:avLst>
              <a:gd name="adj" fmla="val 6957"/>
            </a:avLst>
          </a:prstGeom>
          <a:solidFill>
            <a:schemeClr val="tx1"/>
          </a:solidFill>
          <a:ln w="12700">
            <a:solidFill>
              <a:schemeClr val="tx1"/>
            </a:solidFill>
            <a:prstDash val="solid"/>
          </a:ln>
        </p:spPr>
      </p:sp>
      <p:sp>
        <p:nvSpPr>
          <p:cNvPr id="5" name="Text 2"/>
          <p:cNvSpPr txBox="1"/>
          <p:nvPr/>
        </p:nvSpPr>
        <p:spPr>
          <a:xfrm>
            <a:off x="548640" y="1481328"/>
            <a:ext cx="2377440" cy="411480"/>
          </a:xfrm>
          <a:prstGeom prst="rect">
            <a:avLst/>
          </a:prstGeom>
          <a:noFill/>
          <a:ln/>
        </p:spPr>
        <p:txBody>
          <a:bodyPr wrap="square" lIns="0" tIns="0" rIns="0" bIns="0" rtlCol="0" anchor="t"/>
          <a:lstStyle/>
          <a:p>
            <a:pPr algn="ctr" indent="0" marL="0">
              <a:buNone/>
            </a:pPr>
            <a:r>
              <a:rPr lang="en-US" sz="1700" b="1" dirty="0">
                <a:solidFill>
                  <a:schemeClr val="bg1"/>
                </a:solidFill>
              </a:rPr>
              <a:t>Browser</a:t>
            </a:r>
            <a:endParaRPr lang="en-US" sz="1700" dirty="0"/>
          </a:p>
        </p:txBody>
      </p:sp>
      <p:sp>
        <p:nvSpPr>
          <p:cNvPr id="6" name="Text 3"/>
          <p:cNvSpPr txBox="1"/>
          <p:nvPr/>
        </p:nvSpPr>
        <p:spPr>
          <a:xfrm>
            <a:off x="548640" y="1920240"/>
            <a:ext cx="2377440" cy="365760"/>
          </a:xfrm>
          <a:prstGeom prst="rect">
            <a:avLst/>
          </a:prstGeom>
          <a:noFill/>
          <a:ln/>
        </p:spPr>
        <p:txBody>
          <a:bodyPr wrap="square" lIns="0" tIns="0" rIns="0" bIns="0" rtlCol="0" anchor="t"/>
          <a:lstStyle/>
          <a:p>
            <a:pPr algn="ctr" indent="0" marL="0">
              <a:buNone/>
            </a:pPr>
            <a:r>
              <a:rPr lang="en-US" sz="1300" dirty="0">
                <a:solidFill>
                  <a:schemeClr val="bg1"/>
                </a:solidFill>
              </a:rPr>
              <a:t>HTML forms and tables</a:t>
            </a:r>
            <a:endParaRPr lang="en-US" sz="1300" dirty="0"/>
          </a:p>
        </p:txBody>
      </p:sp>
      <p:sp>
        <p:nvSpPr>
          <p:cNvPr id="7" name="Shape 4"/>
          <p:cNvSpPr/>
          <p:nvPr/>
        </p:nvSpPr>
        <p:spPr>
          <a:xfrm>
            <a:off x="2999232" y="1737360"/>
            <a:ext cx="310896" cy="310896"/>
          </a:xfrm>
          <a:prstGeom prst="rightArrow">
            <a:avLst/>
          </a:prstGeom>
          <a:solidFill>
            <a:schemeClr val="tx2"/>
          </a:solidFill>
          <a:ln w="12700">
            <a:solidFill>
              <a:schemeClr val="tx2"/>
            </a:solidFill>
            <a:prstDash val="solid"/>
          </a:ln>
        </p:spPr>
      </p:sp>
      <p:sp>
        <p:nvSpPr>
          <p:cNvPr id="8" name="Shape 5"/>
          <p:cNvSpPr/>
          <p:nvPr/>
        </p:nvSpPr>
        <p:spPr>
          <a:xfrm>
            <a:off x="3364992" y="1371600"/>
            <a:ext cx="2377440" cy="1051560"/>
          </a:xfrm>
          <a:prstGeom prst="roundRect">
            <a:avLst>
              <a:gd name="adj" fmla="val 6957"/>
            </a:avLst>
          </a:prstGeom>
          <a:solidFill>
            <a:schemeClr val="tx1"/>
          </a:solidFill>
          <a:ln w="12700">
            <a:solidFill>
              <a:schemeClr val="tx1"/>
            </a:solidFill>
            <a:prstDash val="solid"/>
          </a:ln>
        </p:spPr>
      </p:sp>
      <p:sp>
        <p:nvSpPr>
          <p:cNvPr id="9" name="Text 6"/>
          <p:cNvSpPr txBox="1"/>
          <p:nvPr/>
        </p:nvSpPr>
        <p:spPr>
          <a:xfrm>
            <a:off x="3364992" y="1481328"/>
            <a:ext cx="2377440" cy="411480"/>
          </a:xfrm>
          <a:prstGeom prst="rect">
            <a:avLst/>
          </a:prstGeom>
          <a:noFill/>
          <a:ln/>
        </p:spPr>
        <p:txBody>
          <a:bodyPr wrap="square" lIns="0" tIns="0" rIns="0" bIns="0" rtlCol="0" anchor="t"/>
          <a:lstStyle/>
          <a:p>
            <a:pPr algn="ctr" indent="0" marL="0">
              <a:buNone/>
            </a:pPr>
            <a:r>
              <a:rPr lang="en-US" sz="1700" b="1" dirty="0">
                <a:solidFill>
                  <a:schemeClr val="bg1"/>
                </a:solidFill>
              </a:rPr>
              <a:t>Flask (app.py)</a:t>
            </a:r>
            <a:endParaRPr lang="en-US" sz="1700" dirty="0"/>
          </a:p>
        </p:txBody>
      </p:sp>
      <p:sp>
        <p:nvSpPr>
          <p:cNvPr id="10" name="Text 7"/>
          <p:cNvSpPr txBox="1"/>
          <p:nvPr/>
        </p:nvSpPr>
        <p:spPr>
          <a:xfrm>
            <a:off x="3364992" y="1920240"/>
            <a:ext cx="2377440" cy="365760"/>
          </a:xfrm>
          <a:prstGeom prst="rect">
            <a:avLst/>
          </a:prstGeom>
          <a:noFill/>
          <a:ln/>
        </p:spPr>
        <p:txBody>
          <a:bodyPr wrap="square" lIns="0" tIns="0" rIns="0" bIns="0" rtlCol="0" anchor="t"/>
          <a:lstStyle/>
          <a:p>
            <a:pPr algn="ctr" indent="0" marL="0">
              <a:buNone/>
            </a:pPr>
            <a:r>
              <a:rPr lang="en-US" sz="1300" dirty="0">
                <a:solidFill>
                  <a:schemeClr val="bg1"/>
                </a:solidFill>
              </a:rPr>
              <a:t>routes build SQL</a:t>
            </a:r>
            <a:endParaRPr lang="en-US" sz="1300" dirty="0"/>
          </a:p>
        </p:txBody>
      </p:sp>
      <p:sp>
        <p:nvSpPr>
          <p:cNvPr id="11" name="Shape 8"/>
          <p:cNvSpPr/>
          <p:nvPr/>
        </p:nvSpPr>
        <p:spPr>
          <a:xfrm>
            <a:off x="5815584" y="1737360"/>
            <a:ext cx="310896" cy="310896"/>
          </a:xfrm>
          <a:prstGeom prst="rightArrow">
            <a:avLst/>
          </a:prstGeom>
          <a:solidFill>
            <a:schemeClr val="tx2"/>
          </a:solidFill>
          <a:ln w="12700">
            <a:solidFill>
              <a:schemeClr val="tx2"/>
            </a:solidFill>
            <a:prstDash val="solid"/>
          </a:ln>
        </p:spPr>
      </p:sp>
      <p:sp>
        <p:nvSpPr>
          <p:cNvPr id="12" name="Shape 9"/>
          <p:cNvSpPr/>
          <p:nvPr/>
        </p:nvSpPr>
        <p:spPr>
          <a:xfrm>
            <a:off x="6181344" y="1371600"/>
            <a:ext cx="2377440" cy="1051560"/>
          </a:xfrm>
          <a:prstGeom prst="roundRect">
            <a:avLst>
              <a:gd name="adj" fmla="val 6957"/>
            </a:avLst>
          </a:prstGeom>
          <a:solidFill>
            <a:schemeClr val="tx1"/>
          </a:solidFill>
          <a:ln w="12700">
            <a:solidFill>
              <a:schemeClr val="tx1"/>
            </a:solidFill>
            <a:prstDash val="solid"/>
          </a:ln>
        </p:spPr>
      </p:sp>
      <p:sp>
        <p:nvSpPr>
          <p:cNvPr id="13" name="Text 10"/>
          <p:cNvSpPr txBox="1"/>
          <p:nvPr/>
        </p:nvSpPr>
        <p:spPr>
          <a:xfrm>
            <a:off x="6181344" y="1481328"/>
            <a:ext cx="2377440" cy="411480"/>
          </a:xfrm>
          <a:prstGeom prst="rect">
            <a:avLst/>
          </a:prstGeom>
          <a:noFill/>
          <a:ln/>
        </p:spPr>
        <p:txBody>
          <a:bodyPr wrap="square" lIns="0" tIns="0" rIns="0" bIns="0" rtlCol="0" anchor="t"/>
          <a:lstStyle/>
          <a:p>
            <a:pPr algn="ctr" indent="0" marL="0">
              <a:buNone/>
            </a:pPr>
            <a:r>
              <a:rPr lang="en-US" sz="1700" b="1" dirty="0">
                <a:solidFill>
                  <a:schemeClr val="bg1"/>
                </a:solidFill>
              </a:rPr>
              <a:t>PyMySQL</a:t>
            </a:r>
            <a:endParaRPr lang="en-US" sz="1700" dirty="0"/>
          </a:p>
        </p:txBody>
      </p:sp>
      <p:sp>
        <p:nvSpPr>
          <p:cNvPr id="14" name="Text 11"/>
          <p:cNvSpPr txBox="1"/>
          <p:nvPr/>
        </p:nvSpPr>
        <p:spPr>
          <a:xfrm>
            <a:off x="6181344" y="1920240"/>
            <a:ext cx="2377440" cy="365760"/>
          </a:xfrm>
          <a:prstGeom prst="rect">
            <a:avLst/>
          </a:prstGeom>
          <a:noFill/>
          <a:ln/>
        </p:spPr>
        <p:txBody>
          <a:bodyPr wrap="square" lIns="0" tIns="0" rIns="0" bIns="0" rtlCol="0" anchor="t"/>
          <a:lstStyle/>
          <a:p>
            <a:pPr algn="ctr" indent="0" marL="0">
              <a:buNone/>
            </a:pPr>
            <a:r>
              <a:rPr lang="en-US" sz="1300" dirty="0">
                <a:solidFill>
                  <a:schemeClr val="bg1"/>
                </a:solidFill>
              </a:rPr>
              <a:t>driver, parameterised queries</a:t>
            </a:r>
            <a:endParaRPr lang="en-US" sz="1300" dirty="0"/>
          </a:p>
        </p:txBody>
      </p:sp>
      <p:sp>
        <p:nvSpPr>
          <p:cNvPr id="15" name="Shape 12"/>
          <p:cNvSpPr/>
          <p:nvPr/>
        </p:nvSpPr>
        <p:spPr>
          <a:xfrm>
            <a:off x="8631936" y="1737360"/>
            <a:ext cx="310896" cy="310896"/>
          </a:xfrm>
          <a:prstGeom prst="rightArrow">
            <a:avLst/>
          </a:prstGeom>
          <a:solidFill>
            <a:schemeClr val="tx2"/>
          </a:solidFill>
          <a:ln w="12700">
            <a:solidFill>
              <a:schemeClr val="tx2"/>
            </a:solidFill>
            <a:prstDash val="solid"/>
          </a:ln>
        </p:spPr>
      </p:sp>
      <p:sp>
        <p:nvSpPr>
          <p:cNvPr id="16" name="Shape 13"/>
          <p:cNvSpPr/>
          <p:nvPr/>
        </p:nvSpPr>
        <p:spPr>
          <a:xfrm>
            <a:off x="8997696" y="1371600"/>
            <a:ext cx="2377440" cy="1051560"/>
          </a:xfrm>
          <a:prstGeom prst="roundRect">
            <a:avLst>
              <a:gd name="adj" fmla="val 6957"/>
            </a:avLst>
          </a:prstGeom>
          <a:solidFill>
            <a:schemeClr val="accent1"/>
          </a:solidFill>
          <a:ln w="12700">
            <a:solidFill>
              <a:schemeClr val="tx1"/>
            </a:solidFill>
            <a:prstDash val="solid"/>
          </a:ln>
        </p:spPr>
      </p:sp>
      <p:sp>
        <p:nvSpPr>
          <p:cNvPr id="17" name="Text 14"/>
          <p:cNvSpPr txBox="1"/>
          <p:nvPr/>
        </p:nvSpPr>
        <p:spPr>
          <a:xfrm>
            <a:off x="8997696" y="1481328"/>
            <a:ext cx="2377440" cy="411480"/>
          </a:xfrm>
          <a:prstGeom prst="rect">
            <a:avLst/>
          </a:prstGeom>
          <a:noFill/>
          <a:ln/>
        </p:spPr>
        <p:txBody>
          <a:bodyPr wrap="square" lIns="0" tIns="0" rIns="0" bIns="0" rtlCol="0" anchor="t"/>
          <a:lstStyle/>
          <a:p>
            <a:pPr algn="ctr" indent="0" marL="0">
              <a:buNone/>
            </a:pPr>
            <a:r>
              <a:rPr lang="en-US" sz="1700" b="1" dirty="0">
                <a:solidFill>
                  <a:schemeClr val="bg1"/>
                </a:solidFill>
              </a:rPr>
              <a:t>MySQL</a:t>
            </a:r>
            <a:endParaRPr lang="en-US" sz="1700" dirty="0"/>
          </a:p>
        </p:txBody>
      </p:sp>
      <p:sp>
        <p:nvSpPr>
          <p:cNvPr id="18" name="Text 15"/>
          <p:cNvSpPr txBox="1"/>
          <p:nvPr/>
        </p:nvSpPr>
        <p:spPr>
          <a:xfrm>
            <a:off x="8997696" y="1920240"/>
            <a:ext cx="2377440" cy="365760"/>
          </a:xfrm>
          <a:prstGeom prst="rect">
            <a:avLst/>
          </a:prstGeom>
          <a:noFill/>
          <a:ln/>
        </p:spPr>
        <p:txBody>
          <a:bodyPr wrap="square" lIns="0" tIns="0" rIns="0" bIns="0" rtlCol="0" anchor="t"/>
          <a:lstStyle/>
          <a:p>
            <a:pPr algn="ctr" indent="0" marL="0">
              <a:buNone/>
            </a:pPr>
            <a:r>
              <a:rPr lang="en-US" sz="1300" dirty="0">
                <a:solidFill>
                  <a:schemeClr val="bg1"/>
                </a:solidFill>
              </a:rPr>
              <a:t>gym_management</a:t>
            </a:r>
            <a:endParaRPr lang="en-US" sz="1300" dirty="0"/>
          </a:p>
        </p:txBody>
      </p:sp>
      <p:sp>
        <p:nvSpPr>
          <p:cNvPr id="19" name="Shape 16"/>
          <p:cNvSpPr/>
          <p:nvPr/>
        </p:nvSpPr>
        <p:spPr>
          <a:xfrm>
            <a:off x="548640" y="2697480"/>
            <a:ext cx="6035040" cy="3474720"/>
          </a:xfrm>
          <a:prstGeom prst="roundRect">
            <a:avLst>
              <a:gd name="adj" fmla="val 1579"/>
            </a:avLst>
          </a:prstGeom>
          <a:solidFill>
            <a:schemeClr val="tx1"/>
          </a:solidFill>
          <a:ln w="12700">
            <a:solidFill>
              <a:schemeClr val="tx1"/>
            </a:solidFill>
            <a:prstDash val="solid"/>
          </a:ln>
        </p:spPr>
      </p:sp>
      <p:sp>
        <p:nvSpPr>
          <p:cNvPr id="20" name="Text 17"/>
          <p:cNvSpPr txBox="1"/>
          <p:nvPr/>
        </p:nvSpPr>
        <p:spPr>
          <a:xfrm>
            <a:off x="713232" y="2825496"/>
            <a:ext cx="5705856" cy="3218688"/>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def get_connection():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pymysql.connect(host=config.DB_HOST,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user=config.DB_USER, password=config.DB_PASSWORD,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database=config.DB_NAME,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cursorclass=pymysql.cursors.DictCursor)</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@app.route("/members/delete/&lt;int:member_id&gt;",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methods=["POST"])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delete_member(member_id):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save("DELETE FROM member WHERE member_id = %s",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(member_id,), "Member deleted.")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redirect(url_for("members"))</a:t>
            </a:r>
            <a:endParaRPr lang="en-US" sz="1200" dirty="0"/>
          </a:p>
        </p:txBody>
      </p:sp>
      <p:pic>
        <p:nvPicPr>
          <p:cNvPr id="21" name="Image 0" descr="Dashboard: live counts read from the database">    </p:cNvPr>
          <p:cNvPicPr>
            <a:picLocks noChangeAspect="1"/>
          </p:cNvPicPr>
          <p:nvPr/>
        </p:nvPicPr>
        <p:blipFill>
          <a:blip r:embed="rId1"/>
          <a:stretch>
            <a:fillRect/>
          </a:stretch>
        </p:blipFill>
        <p:spPr>
          <a:xfrm>
            <a:off x="6858000" y="2697480"/>
            <a:ext cx="4754880" cy="2971800"/>
          </a:xfrm>
          <a:prstGeom prst="rect">
            <a:avLst/>
          </a:prstGeom>
        </p:spPr>
      </p:pic>
      <p:sp>
        <p:nvSpPr>
          <p:cNvPr id="22" name="Shape 18"/>
          <p:cNvSpPr/>
          <p:nvPr/>
        </p:nvSpPr>
        <p:spPr>
          <a:xfrm>
            <a:off x="6858000" y="2697480"/>
            <a:ext cx="4754880" cy="2971800"/>
          </a:xfrm>
          <a:prstGeom prst="rect">
            <a:avLst/>
          </a:prstGeom>
          <a:ln w="9525">
            <a:solidFill>
              <a:schemeClr val="accent5"/>
            </a:solidFill>
            <a:prstDash val="solid"/>
          </a:ln>
        </p:spPr>
      </p:sp>
      <p:sp>
        <p:nvSpPr>
          <p:cNvPr id="23" name="Text 19"/>
          <p:cNvSpPr txBox="1"/>
          <p:nvPr/>
        </p:nvSpPr>
        <p:spPr>
          <a:xfrm>
            <a:off x="6858000" y="5742432"/>
            <a:ext cx="4754880" cy="274320"/>
          </a:xfrm>
          <a:prstGeom prst="rect">
            <a:avLst/>
          </a:prstGeom>
          <a:noFill/>
          <a:ln/>
        </p:spPr>
        <p:txBody>
          <a:bodyPr wrap="square" lIns="0" tIns="0" rIns="0" bIns="0" rtlCol="0" anchor="t"/>
          <a:lstStyle/>
          <a:p>
            <a:pPr indent="0" marL="0">
              <a:buNone/>
            </a:pPr>
            <a:r>
              <a:rPr lang="en-US" sz="1200" b="1" dirty="0">
                <a:solidFill>
                  <a:schemeClr val="tx2"/>
                </a:solidFill>
              </a:rPr>
              <a:t>Dashboard: live counts read from the database</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Insert: a new member appears in the page and in MySQL</a:t>
            </a:r>
            <a:endParaRPr lang="en-US" sz="3200" dirty="0"/>
          </a:p>
        </p:txBody>
      </p:sp>
      <p:pic>
        <p:nvPicPr>
          <p:cNvPr id="4" name="Image 0" descr="1. Before: 8 members, form filled">    </p:cNvPr>
          <p:cNvPicPr>
            <a:picLocks noChangeAspect="1"/>
          </p:cNvPicPr>
          <p:nvPr/>
        </p:nvPicPr>
        <p:blipFill>
          <a:blip r:embed="rId1"/>
          <a:stretch>
            <a:fillRect/>
          </a:stretch>
        </p:blipFill>
        <p:spPr>
          <a:xfrm>
            <a:off x="548640" y="1371600"/>
            <a:ext cx="3611880" cy="2421297"/>
          </a:xfrm>
          <a:prstGeom prst="rect">
            <a:avLst/>
          </a:prstGeom>
        </p:spPr>
      </p:pic>
      <p:sp>
        <p:nvSpPr>
          <p:cNvPr id="5" name="Shape 1"/>
          <p:cNvSpPr/>
          <p:nvPr/>
        </p:nvSpPr>
        <p:spPr>
          <a:xfrm>
            <a:off x="548640" y="1371600"/>
            <a:ext cx="3611880" cy="2421297"/>
          </a:xfrm>
          <a:prstGeom prst="rect">
            <a:avLst/>
          </a:prstGeom>
          <a:ln w="9525">
            <a:solidFill>
              <a:schemeClr val="accent5"/>
            </a:solidFill>
            <a:prstDash val="solid"/>
          </a:ln>
        </p:spPr>
      </p:sp>
      <p:sp>
        <p:nvSpPr>
          <p:cNvPr id="6" name="Text 2"/>
          <p:cNvSpPr txBox="1"/>
          <p:nvPr/>
        </p:nvSpPr>
        <p:spPr>
          <a:xfrm>
            <a:off x="548640" y="3866049"/>
            <a:ext cx="3611880" cy="274320"/>
          </a:xfrm>
          <a:prstGeom prst="rect">
            <a:avLst/>
          </a:prstGeom>
          <a:noFill/>
          <a:ln/>
        </p:spPr>
        <p:txBody>
          <a:bodyPr wrap="square" lIns="0" tIns="0" rIns="0" bIns="0" rtlCol="0" anchor="t"/>
          <a:lstStyle/>
          <a:p>
            <a:pPr indent="0" marL="0">
              <a:buNone/>
            </a:pPr>
            <a:r>
              <a:rPr lang="en-US" sz="1200" b="1" dirty="0">
                <a:solidFill>
                  <a:schemeClr val="tx2"/>
                </a:solidFill>
              </a:rPr>
              <a:t>1. Before: 8 members, form filled</a:t>
            </a:r>
            <a:endParaRPr lang="en-US" sz="1200" dirty="0"/>
          </a:p>
        </p:txBody>
      </p:sp>
      <p:pic>
        <p:nvPicPr>
          <p:cNvPr id="7" name="Image 1" descr="2. After: 9 members, Rohan Das added">    </p:cNvPr>
          <p:cNvPicPr>
            <a:picLocks noChangeAspect="1"/>
          </p:cNvPicPr>
          <p:nvPr/>
        </p:nvPicPr>
        <p:blipFill>
          <a:blip r:embed="rId2"/>
          <a:stretch>
            <a:fillRect/>
          </a:stretch>
        </p:blipFill>
        <p:spPr>
          <a:xfrm>
            <a:off x="4343400" y="1371600"/>
            <a:ext cx="3611880" cy="2702221"/>
          </a:xfrm>
          <a:prstGeom prst="rect">
            <a:avLst/>
          </a:prstGeom>
        </p:spPr>
      </p:pic>
      <p:sp>
        <p:nvSpPr>
          <p:cNvPr id="8" name="Shape 3"/>
          <p:cNvSpPr/>
          <p:nvPr/>
        </p:nvSpPr>
        <p:spPr>
          <a:xfrm>
            <a:off x="4343400" y="1371600"/>
            <a:ext cx="3611880" cy="2702221"/>
          </a:xfrm>
          <a:prstGeom prst="rect">
            <a:avLst/>
          </a:prstGeom>
          <a:ln w="9525">
            <a:solidFill>
              <a:schemeClr val="accent5"/>
            </a:solidFill>
            <a:prstDash val="solid"/>
          </a:ln>
        </p:spPr>
      </p:sp>
      <p:sp>
        <p:nvSpPr>
          <p:cNvPr id="9" name="Text 4"/>
          <p:cNvSpPr txBox="1"/>
          <p:nvPr/>
        </p:nvSpPr>
        <p:spPr>
          <a:xfrm>
            <a:off x="4343400" y="4146973"/>
            <a:ext cx="3611880" cy="274320"/>
          </a:xfrm>
          <a:prstGeom prst="rect">
            <a:avLst/>
          </a:prstGeom>
          <a:noFill/>
          <a:ln/>
        </p:spPr>
        <p:txBody>
          <a:bodyPr wrap="square" lIns="0" tIns="0" rIns="0" bIns="0" rtlCol="0" anchor="t"/>
          <a:lstStyle/>
          <a:p>
            <a:pPr indent="0" marL="0">
              <a:buNone/>
            </a:pPr>
            <a:r>
              <a:rPr lang="en-US" sz="1200" b="1" dirty="0">
                <a:solidFill>
                  <a:schemeClr val="tx2"/>
                </a:solidFill>
              </a:rPr>
              <a:t>2. After: 9 members, Rohan Das added</a:t>
            </a:r>
            <a:endParaRPr lang="en-US" sz="1200" dirty="0"/>
          </a:p>
        </p:txBody>
      </p:sp>
      <p:pic>
        <p:nvPicPr>
          <p:cNvPr id="10" name="Image 2" descr="3. Same row seen from the MySQL prompt">    </p:cNvPr>
          <p:cNvPicPr>
            <a:picLocks noChangeAspect="1"/>
          </p:cNvPicPr>
          <p:nvPr/>
        </p:nvPicPr>
        <p:blipFill>
          <a:blip r:embed="rId3"/>
          <a:stretch>
            <a:fillRect/>
          </a:stretch>
        </p:blipFill>
        <p:spPr>
          <a:xfrm>
            <a:off x="8138160" y="1371600"/>
            <a:ext cx="3474720" cy="1641867"/>
          </a:xfrm>
          <a:prstGeom prst="rect">
            <a:avLst/>
          </a:prstGeom>
        </p:spPr>
      </p:pic>
      <p:sp>
        <p:nvSpPr>
          <p:cNvPr id="11" name="Shape 5"/>
          <p:cNvSpPr/>
          <p:nvPr/>
        </p:nvSpPr>
        <p:spPr>
          <a:xfrm>
            <a:off x="8138160" y="1371600"/>
            <a:ext cx="3474720" cy="1641867"/>
          </a:xfrm>
          <a:prstGeom prst="rect">
            <a:avLst/>
          </a:prstGeom>
          <a:ln w="9525">
            <a:solidFill>
              <a:schemeClr val="accent5"/>
            </a:solidFill>
            <a:prstDash val="solid"/>
          </a:ln>
        </p:spPr>
      </p:sp>
      <p:sp>
        <p:nvSpPr>
          <p:cNvPr id="12" name="Text 6"/>
          <p:cNvSpPr txBox="1"/>
          <p:nvPr/>
        </p:nvSpPr>
        <p:spPr>
          <a:xfrm>
            <a:off x="8138160" y="3086619"/>
            <a:ext cx="3474720" cy="274320"/>
          </a:xfrm>
          <a:prstGeom prst="rect">
            <a:avLst/>
          </a:prstGeom>
          <a:noFill/>
          <a:ln/>
        </p:spPr>
        <p:txBody>
          <a:bodyPr wrap="square" lIns="0" tIns="0" rIns="0" bIns="0" rtlCol="0" anchor="t"/>
          <a:lstStyle/>
          <a:p>
            <a:pPr indent="0" marL="0">
              <a:buNone/>
            </a:pPr>
            <a:r>
              <a:rPr lang="en-US" sz="1200" b="1" dirty="0">
                <a:solidFill>
                  <a:schemeClr val="tx2"/>
                </a:solidFill>
              </a:rPr>
              <a:t>3. Same row seen from the MySQL prompt</a:t>
            </a:r>
            <a:endParaRPr lang="en-US" sz="1200" dirty="0"/>
          </a:p>
        </p:txBody>
      </p:sp>
      <p:sp>
        <p:nvSpPr>
          <p:cNvPr id="13" name="Shape 7"/>
          <p:cNvSpPr/>
          <p:nvPr/>
        </p:nvSpPr>
        <p:spPr>
          <a:xfrm>
            <a:off x="548640" y="4892040"/>
            <a:ext cx="11064240" cy="1234440"/>
          </a:xfrm>
          <a:prstGeom prst="roundRect">
            <a:avLst>
              <a:gd name="adj" fmla="val 5926"/>
            </a:avLst>
          </a:prstGeom>
          <a:solidFill>
            <a:schemeClr val="accent6"/>
          </a:solidFill>
          <a:ln w="9525">
            <a:solidFill>
              <a:schemeClr val="accent5"/>
            </a:solidFill>
            <a:prstDash val="solid"/>
          </a:ln>
        </p:spPr>
      </p:sp>
      <p:sp>
        <p:nvSpPr>
          <p:cNvPr id="14" name="Text 8"/>
          <p:cNvSpPr txBox="1"/>
          <p:nvPr/>
        </p:nvSpPr>
        <p:spPr>
          <a:xfrm>
            <a:off x="777240" y="4892040"/>
            <a:ext cx="10607040" cy="1234440"/>
          </a:xfrm>
          <a:prstGeom prst="rect">
            <a:avLst/>
          </a:prstGeom>
          <a:noFill/>
          <a:ln/>
        </p:spPr>
        <p:txBody>
          <a:bodyPr wrap="square" lIns="0" tIns="0" rIns="0" bIns="0" rtlCol="0" anchor="ctr"/>
          <a:lstStyle/>
          <a:p>
            <a:pPr indent="0" marL="0">
              <a:buNone/>
            </a:pPr>
            <a:r>
              <a:rPr lang="en-US" sz="1400" b="1" dirty="0">
                <a:solidFill>
                  <a:schemeClr val="tx1"/>
                </a:solidFill>
              </a:rPr>
              <a:t>SQL sent by the UI:  </a:t>
            </a:r>
            <a:pPr indent="0" marL="0">
              <a:buNone/>
            </a:pPr>
            <a:r>
              <a:rPr lang="en-US" sz="1300" dirty="0">
                <a:solidFill>
                  <a:schemeClr val="tx1"/>
                </a:solidFill>
                <a:latin typeface="Courier New" pitchFamily="34" charset="0"/>
                <a:ea typeface="Courier New" pitchFamily="34" charset="-122"/>
                <a:cs typeface="Courier New" pitchFamily="34" charset="-120"/>
              </a:rPr>
              <a:t>INSERT INTO member (first_name, last_name, gender, dob, phone, email, city, join_date) VALUES (%s, %s, %s, %s, %s, %s, %s, %s)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Delete: a member's dependent rows are removed too</a:t>
            </a:r>
            <a:endParaRPr lang="en-US" sz="3200" dirty="0"/>
          </a:p>
        </p:txBody>
      </p:sp>
      <p:pic>
        <p:nvPicPr>
          <p:cNvPr id="4" name="Image 0" descr="1. Before: Rohan Das is member 9">    </p:cNvPr>
          <p:cNvPicPr>
            <a:picLocks noChangeAspect="1"/>
          </p:cNvPicPr>
          <p:nvPr/>
        </p:nvPicPr>
        <p:blipFill>
          <a:blip r:embed="rId1"/>
          <a:stretch>
            <a:fillRect/>
          </a:stretch>
        </p:blipFill>
        <p:spPr>
          <a:xfrm>
            <a:off x="548640" y="1371600"/>
            <a:ext cx="3611880" cy="2543366"/>
          </a:xfrm>
          <a:prstGeom prst="rect">
            <a:avLst/>
          </a:prstGeom>
        </p:spPr>
      </p:pic>
      <p:sp>
        <p:nvSpPr>
          <p:cNvPr id="5" name="Shape 1"/>
          <p:cNvSpPr/>
          <p:nvPr/>
        </p:nvSpPr>
        <p:spPr>
          <a:xfrm>
            <a:off x="548640" y="1371600"/>
            <a:ext cx="3611880" cy="2543366"/>
          </a:xfrm>
          <a:prstGeom prst="rect">
            <a:avLst/>
          </a:prstGeom>
          <a:ln w="9525">
            <a:solidFill>
              <a:schemeClr val="accent5"/>
            </a:solidFill>
            <a:prstDash val="solid"/>
          </a:ln>
        </p:spPr>
      </p:sp>
      <p:sp>
        <p:nvSpPr>
          <p:cNvPr id="6" name="Text 2"/>
          <p:cNvSpPr txBox="1"/>
          <p:nvPr/>
        </p:nvSpPr>
        <p:spPr>
          <a:xfrm>
            <a:off x="548640" y="3988118"/>
            <a:ext cx="3611880" cy="274320"/>
          </a:xfrm>
          <a:prstGeom prst="rect">
            <a:avLst/>
          </a:prstGeom>
          <a:noFill/>
          <a:ln/>
        </p:spPr>
        <p:txBody>
          <a:bodyPr wrap="square" lIns="0" tIns="0" rIns="0" bIns="0" rtlCol="0" anchor="t"/>
          <a:lstStyle/>
          <a:p>
            <a:pPr indent="0" marL="0">
              <a:buNone/>
            </a:pPr>
            <a:r>
              <a:rPr lang="en-US" sz="1200" b="1" dirty="0">
                <a:solidFill>
                  <a:schemeClr val="tx2"/>
                </a:solidFill>
              </a:rPr>
              <a:t>1. Before: Rohan Das is member 9</a:t>
            </a:r>
            <a:endParaRPr lang="en-US" sz="1200" dirty="0"/>
          </a:p>
        </p:txBody>
      </p:sp>
      <p:pic>
        <p:nvPicPr>
          <p:cNvPr id="7" name="Image 1" descr="2. After: back to 8 members">    </p:cNvPr>
          <p:cNvPicPr>
            <a:picLocks noChangeAspect="1"/>
          </p:cNvPicPr>
          <p:nvPr/>
        </p:nvPicPr>
        <p:blipFill>
          <a:blip r:embed="rId2"/>
          <a:stretch>
            <a:fillRect/>
          </a:stretch>
        </p:blipFill>
        <p:spPr>
          <a:xfrm>
            <a:off x="4343400" y="1371600"/>
            <a:ext cx="3611880" cy="2578481"/>
          </a:xfrm>
          <a:prstGeom prst="rect">
            <a:avLst/>
          </a:prstGeom>
        </p:spPr>
      </p:pic>
      <p:sp>
        <p:nvSpPr>
          <p:cNvPr id="8" name="Shape 3"/>
          <p:cNvSpPr/>
          <p:nvPr/>
        </p:nvSpPr>
        <p:spPr>
          <a:xfrm>
            <a:off x="4343400" y="1371600"/>
            <a:ext cx="3611880" cy="2578481"/>
          </a:xfrm>
          <a:prstGeom prst="rect">
            <a:avLst/>
          </a:prstGeom>
          <a:ln w="9525">
            <a:solidFill>
              <a:schemeClr val="accent5"/>
            </a:solidFill>
            <a:prstDash val="solid"/>
          </a:ln>
        </p:spPr>
      </p:sp>
      <p:sp>
        <p:nvSpPr>
          <p:cNvPr id="9" name="Text 4"/>
          <p:cNvSpPr txBox="1"/>
          <p:nvPr/>
        </p:nvSpPr>
        <p:spPr>
          <a:xfrm>
            <a:off x="4343400" y="4023233"/>
            <a:ext cx="3611880" cy="274320"/>
          </a:xfrm>
          <a:prstGeom prst="rect">
            <a:avLst/>
          </a:prstGeom>
          <a:noFill/>
          <a:ln/>
        </p:spPr>
        <p:txBody>
          <a:bodyPr wrap="square" lIns="0" tIns="0" rIns="0" bIns="0" rtlCol="0" anchor="t"/>
          <a:lstStyle/>
          <a:p>
            <a:pPr indent="0" marL="0">
              <a:buNone/>
            </a:pPr>
            <a:r>
              <a:rPr lang="en-US" sz="1200" b="1" dirty="0">
                <a:solidFill>
                  <a:schemeClr val="tx2"/>
                </a:solidFill>
              </a:rPr>
              <a:t>2. After: back to 8 members</a:t>
            </a:r>
            <a:endParaRPr lang="en-US" sz="1200" dirty="0"/>
          </a:p>
        </p:txBody>
      </p:sp>
      <p:pic>
        <p:nvPicPr>
          <p:cNvPr id="10" name="Image 2" descr="3. MySQL: member, membership, payment all gone">    </p:cNvPr>
          <p:cNvPicPr>
            <a:picLocks noChangeAspect="1"/>
          </p:cNvPicPr>
          <p:nvPr/>
        </p:nvPicPr>
        <p:blipFill>
          <a:blip r:embed="rId3"/>
          <a:stretch>
            <a:fillRect/>
          </a:stretch>
        </p:blipFill>
        <p:spPr>
          <a:xfrm>
            <a:off x="8138160" y="1371600"/>
            <a:ext cx="3474720" cy="2625733"/>
          </a:xfrm>
          <a:prstGeom prst="rect">
            <a:avLst/>
          </a:prstGeom>
        </p:spPr>
      </p:pic>
      <p:sp>
        <p:nvSpPr>
          <p:cNvPr id="11" name="Shape 5"/>
          <p:cNvSpPr/>
          <p:nvPr/>
        </p:nvSpPr>
        <p:spPr>
          <a:xfrm>
            <a:off x="8138160" y="1371600"/>
            <a:ext cx="3474720" cy="2625733"/>
          </a:xfrm>
          <a:prstGeom prst="rect">
            <a:avLst/>
          </a:prstGeom>
          <a:ln w="9525">
            <a:solidFill>
              <a:schemeClr val="accent5"/>
            </a:solidFill>
            <a:prstDash val="solid"/>
          </a:ln>
        </p:spPr>
      </p:sp>
      <p:sp>
        <p:nvSpPr>
          <p:cNvPr id="12" name="Text 6"/>
          <p:cNvSpPr txBox="1"/>
          <p:nvPr/>
        </p:nvSpPr>
        <p:spPr>
          <a:xfrm>
            <a:off x="8138160" y="4070485"/>
            <a:ext cx="3474720" cy="274320"/>
          </a:xfrm>
          <a:prstGeom prst="rect">
            <a:avLst/>
          </a:prstGeom>
          <a:noFill/>
          <a:ln/>
        </p:spPr>
        <p:txBody>
          <a:bodyPr wrap="square" lIns="0" tIns="0" rIns="0" bIns="0" rtlCol="0" anchor="t"/>
          <a:lstStyle/>
          <a:p>
            <a:pPr indent="0" marL="0">
              <a:buNone/>
            </a:pPr>
            <a:r>
              <a:rPr lang="en-US" sz="1200" b="1" dirty="0">
                <a:solidFill>
                  <a:schemeClr val="tx2"/>
                </a:solidFill>
              </a:rPr>
              <a:t>3. MySQL: member, membership, payment all gone</a:t>
            </a:r>
            <a:endParaRPr lang="en-US" sz="1200" dirty="0"/>
          </a:p>
        </p:txBody>
      </p:sp>
      <p:sp>
        <p:nvSpPr>
          <p:cNvPr id="13" name="Shape 7"/>
          <p:cNvSpPr/>
          <p:nvPr/>
        </p:nvSpPr>
        <p:spPr>
          <a:xfrm>
            <a:off x="548640" y="4892040"/>
            <a:ext cx="11064240" cy="1234440"/>
          </a:xfrm>
          <a:prstGeom prst="roundRect">
            <a:avLst>
              <a:gd name="adj" fmla="val 5926"/>
            </a:avLst>
          </a:prstGeom>
          <a:solidFill>
            <a:schemeClr val="accent6"/>
          </a:solidFill>
          <a:ln w="9525">
            <a:solidFill>
              <a:schemeClr val="accent5"/>
            </a:solidFill>
            <a:prstDash val="solid"/>
          </a:ln>
        </p:spPr>
      </p:sp>
      <p:sp>
        <p:nvSpPr>
          <p:cNvPr id="14" name="Text 8"/>
          <p:cNvSpPr txBox="1"/>
          <p:nvPr/>
        </p:nvSpPr>
        <p:spPr>
          <a:xfrm>
            <a:off x="777240" y="4892040"/>
            <a:ext cx="10607040" cy="1234440"/>
          </a:xfrm>
          <a:prstGeom prst="rect">
            <a:avLst/>
          </a:prstGeom>
          <a:noFill/>
          <a:ln/>
        </p:spPr>
        <p:txBody>
          <a:bodyPr wrap="square" lIns="0" tIns="0" rIns="0" bIns="0" rtlCol="0" anchor="ctr"/>
          <a:lstStyle/>
          <a:p>
            <a:pPr indent="0" marL="0">
              <a:buNone/>
            </a:pPr>
            <a:r>
              <a:rPr lang="en-US" sz="1400" b="1" dirty="0">
                <a:solidFill>
                  <a:schemeClr val="tx1"/>
                </a:solidFill>
              </a:rPr>
              <a:t>SQL sent by the UI:  </a:t>
            </a:r>
            <a:pPr indent="0" marL="0">
              <a:buNone/>
            </a:pPr>
            <a:r>
              <a:rPr lang="en-US" sz="1300" dirty="0">
                <a:solidFill>
                  <a:schemeClr val="tx1"/>
                </a:solidFill>
                <a:latin typeface="Courier New" pitchFamily="34" charset="0"/>
                <a:ea typeface="Courier New" pitchFamily="34" charset="-122"/>
                <a:cs typeface="Courier New" pitchFamily="34" charset="-120"/>
              </a:rPr>
              <a:t>DELETE FROM member WHERE member_id = %s</a:t>
            </a:r>
            <a:pPr indent="0" marL="0">
              <a:buNone/>
            </a:pPr>
            <a:r>
              <a:rPr lang="en-US" sz="1400" dirty="0">
                <a:solidFill>
                  <a:schemeClr val="tx1"/>
                </a:solidFill>
              </a:rPr>
              <a:t>     ON DELETE CASCADE then removes that member's rows in MEMBERSHIP, PAYMENT and BOOKING.</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database refuses bad data, and the UI reports why</a:t>
            </a:r>
            <a:endParaRPr lang="en-US" sz="3200" dirty="0"/>
          </a:p>
        </p:txBody>
      </p:sp>
      <p:pic>
        <p:nvPicPr>
          <p:cNvPr id="4" name="Image 0" descr="UNIQUE: duplicate phone number rejected">    </p:cNvPr>
          <p:cNvPicPr>
            <a:picLocks noChangeAspect="1"/>
          </p:cNvPicPr>
          <p:nvPr/>
        </p:nvPicPr>
        <p:blipFill>
          <a:blip r:embed="rId1"/>
          <a:stretch>
            <a:fillRect/>
          </a:stretch>
        </p:blipFill>
        <p:spPr>
          <a:xfrm>
            <a:off x="548640" y="1371600"/>
            <a:ext cx="3611880" cy="2702221"/>
          </a:xfrm>
          <a:prstGeom prst="rect">
            <a:avLst/>
          </a:prstGeom>
        </p:spPr>
      </p:pic>
      <p:sp>
        <p:nvSpPr>
          <p:cNvPr id="5" name="Shape 1"/>
          <p:cNvSpPr/>
          <p:nvPr/>
        </p:nvSpPr>
        <p:spPr>
          <a:xfrm>
            <a:off x="548640" y="1371600"/>
            <a:ext cx="3611880" cy="2702221"/>
          </a:xfrm>
          <a:prstGeom prst="rect">
            <a:avLst/>
          </a:prstGeom>
          <a:ln w="9525">
            <a:solidFill>
              <a:schemeClr val="accent5"/>
            </a:solidFill>
            <a:prstDash val="solid"/>
          </a:ln>
        </p:spPr>
      </p:sp>
      <p:sp>
        <p:nvSpPr>
          <p:cNvPr id="6" name="Text 2"/>
          <p:cNvSpPr txBox="1"/>
          <p:nvPr/>
        </p:nvSpPr>
        <p:spPr>
          <a:xfrm>
            <a:off x="548640" y="4146973"/>
            <a:ext cx="3611880" cy="274320"/>
          </a:xfrm>
          <a:prstGeom prst="rect">
            <a:avLst/>
          </a:prstGeom>
          <a:noFill/>
          <a:ln/>
        </p:spPr>
        <p:txBody>
          <a:bodyPr wrap="square" lIns="0" tIns="0" rIns="0" bIns="0" rtlCol="0" anchor="t"/>
          <a:lstStyle/>
          <a:p>
            <a:pPr indent="0" marL="0">
              <a:buNone/>
            </a:pPr>
            <a:r>
              <a:rPr lang="en-US" sz="1200" b="1" dirty="0">
                <a:solidFill>
                  <a:schemeClr val="tx2"/>
                </a:solidFill>
              </a:rPr>
              <a:t>UNIQUE: duplicate phone number rejected</a:t>
            </a:r>
            <a:endParaRPr lang="en-US" sz="1200" dirty="0"/>
          </a:p>
        </p:txBody>
      </p:sp>
      <p:pic>
        <p:nvPicPr>
          <p:cNvPr id="7" name="Image 1" descr="FOREIGN KEY: trainer with sessions cannot be deleted">    </p:cNvPr>
          <p:cNvPicPr>
            <a:picLocks noChangeAspect="1"/>
          </p:cNvPicPr>
          <p:nvPr/>
        </p:nvPicPr>
        <p:blipFill>
          <a:blip r:embed="rId2"/>
          <a:stretch>
            <a:fillRect/>
          </a:stretch>
        </p:blipFill>
        <p:spPr>
          <a:xfrm>
            <a:off x="4343400" y="1371600"/>
            <a:ext cx="3611880" cy="2257425"/>
          </a:xfrm>
          <a:prstGeom prst="rect">
            <a:avLst/>
          </a:prstGeom>
        </p:spPr>
      </p:pic>
      <p:sp>
        <p:nvSpPr>
          <p:cNvPr id="8" name="Shape 3"/>
          <p:cNvSpPr/>
          <p:nvPr/>
        </p:nvSpPr>
        <p:spPr>
          <a:xfrm>
            <a:off x="4343400" y="1371600"/>
            <a:ext cx="3611880" cy="2257425"/>
          </a:xfrm>
          <a:prstGeom prst="rect">
            <a:avLst/>
          </a:prstGeom>
          <a:ln w="9525">
            <a:solidFill>
              <a:schemeClr val="accent5"/>
            </a:solidFill>
            <a:prstDash val="solid"/>
          </a:ln>
        </p:spPr>
      </p:sp>
      <p:sp>
        <p:nvSpPr>
          <p:cNvPr id="9" name="Text 4"/>
          <p:cNvSpPr txBox="1"/>
          <p:nvPr/>
        </p:nvSpPr>
        <p:spPr>
          <a:xfrm>
            <a:off x="4343400" y="3702177"/>
            <a:ext cx="3611880" cy="274320"/>
          </a:xfrm>
          <a:prstGeom prst="rect">
            <a:avLst/>
          </a:prstGeom>
          <a:noFill/>
          <a:ln/>
        </p:spPr>
        <p:txBody>
          <a:bodyPr wrap="square" lIns="0" tIns="0" rIns="0" bIns="0" rtlCol="0" anchor="t"/>
          <a:lstStyle/>
          <a:p>
            <a:pPr indent="0" marL="0">
              <a:buNone/>
            </a:pPr>
            <a:r>
              <a:rPr lang="en-US" sz="1200" b="1" dirty="0">
                <a:solidFill>
                  <a:schemeClr val="tx2"/>
                </a:solidFill>
              </a:rPr>
              <a:t>FOREIGN KEY: trainer with sessions cannot be deleted</a:t>
            </a:r>
            <a:endParaRPr lang="en-US" sz="1200" dirty="0"/>
          </a:p>
        </p:txBody>
      </p:sp>
      <p:pic>
        <p:nvPicPr>
          <p:cNvPr id="10" name="Image 2" descr="Bookings screen: insert, view and delete">    </p:cNvPr>
          <p:cNvPicPr>
            <a:picLocks noChangeAspect="1"/>
          </p:cNvPicPr>
          <p:nvPr/>
        </p:nvPicPr>
        <p:blipFill>
          <a:blip r:embed="rId3"/>
          <a:stretch>
            <a:fillRect/>
          </a:stretch>
        </p:blipFill>
        <p:spPr>
          <a:xfrm>
            <a:off x="8138160" y="1371600"/>
            <a:ext cx="3352800" cy="3017520"/>
          </a:xfrm>
          <a:prstGeom prst="rect">
            <a:avLst/>
          </a:prstGeom>
        </p:spPr>
      </p:pic>
      <p:sp>
        <p:nvSpPr>
          <p:cNvPr id="11" name="Shape 5"/>
          <p:cNvSpPr/>
          <p:nvPr/>
        </p:nvSpPr>
        <p:spPr>
          <a:xfrm>
            <a:off x="8138160" y="1371600"/>
            <a:ext cx="3352800" cy="3017520"/>
          </a:xfrm>
          <a:prstGeom prst="rect">
            <a:avLst/>
          </a:prstGeom>
          <a:ln w="9525">
            <a:solidFill>
              <a:schemeClr val="accent5"/>
            </a:solidFill>
            <a:prstDash val="solid"/>
          </a:ln>
        </p:spPr>
      </p:sp>
      <p:sp>
        <p:nvSpPr>
          <p:cNvPr id="12" name="Text 6"/>
          <p:cNvSpPr txBox="1"/>
          <p:nvPr/>
        </p:nvSpPr>
        <p:spPr>
          <a:xfrm>
            <a:off x="8138160" y="4462272"/>
            <a:ext cx="3352800" cy="274320"/>
          </a:xfrm>
          <a:prstGeom prst="rect">
            <a:avLst/>
          </a:prstGeom>
          <a:noFill/>
          <a:ln/>
        </p:spPr>
        <p:txBody>
          <a:bodyPr wrap="square" lIns="0" tIns="0" rIns="0" bIns="0" rtlCol="0" anchor="t"/>
          <a:lstStyle/>
          <a:p>
            <a:pPr indent="0" marL="0">
              <a:buNone/>
            </a:pPr>
            <a:r>
              <a:rPr lang="en-US" sz="1200" b="1" dirty="0">
                <a:solidFill>
                  <a:schemeClr val="tx2"/>
                </a:solidFill>
              </a:rPr>
              <a:t>Bookings screen: insert, view and delete</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937760"/>
          <a:ext cx="11064240" cy="914400"/>
        </p:xfrm>
        <a:graphic>
          <a:graphicData uri="http://schemas.openxmlformats.org/drawingml/2006/table">
            <a:tbl>
              <a:tblPr/>
              <a:tblGrid>
                <a:gridCol w="4754880"/>
                <a:gridCol w="3291840"/>
                <a:gridCol w="3017520"/>
              </a:tblGrid>
              <a:tr h="384048">
                <a:tc>
                  <a:txBody>
                    <a:bodyPr/>
                    <a:lstStyle/>
                    <a:p>
                      <a:pPr indent="0" marL="0">
                        <a:buNone/>
                      </a:pPr>
                      <a:r>
                        <a:rPr lang="en-US" sz="1300" b="1" dirty="0">
                          <a:solidFill>
                            <a:schemeClr val="bg1"/>
                          </a:solidFill>
                        </a:rPr>
                        <a:t>Test</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Constraint</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Result</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tx1"/>
                    </a:solidFill>
                  </a:tcPr>
                </a:tc>
              </a:tr>
              <a:tr h="384048">
                <a:tc>
                  <a:txBody>
                    <a:bodyPr/>
                    <a:lstStyle/>
                    <a:p>
                      <a:pPr indent="0" marL="0">
                        <a:buNone/>
                      </a:pPr>
                      <a:r>
                        <a:rPr lang="en-US" sz="1300" dirty="0">
                          <a:solidFill>
                            <a:schemeClr val="tx1"/>
                          </a:solidFill>
                        </a:rPr>
                        <a:t>Insert member with an existing phone</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UNIQUE</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4"/>
                          </a:solidFill>
                        </a:rPr>
                        <a:t>Rejected, error 1062</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Delete a trainer who has sessions</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FOREIGN KEY, RESTRICT</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4"/>
                          </a:solidFill>
                        </a:rPr>
                        <a:t>Rejected, error 1451</a:t>
                      </a:r>
                      <a:endParaRPr lang="en-US" sz="1300" dirty="0"/>
                    </a:p>
                  </a:txBody>
                  <a:tcPr marL="91440" marR="91440" marT="27432" marB="27432" anchor="ctr">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8778240" cy="1828800"/>
          </a:xfrm>
          <a:prstGeom prst="rect">
            <a:avLst/>
          </a:prstGeom>
          <a:noFill/>
          <a:ln/>
        </p:spPr>
        <p:txBody>
          <a:bodyPr wrap="square" lIns="0" tIns="0" rIns="0" bIns="0" rtlCol="0" anchor="t"/>
          <a:lstStyle/>
          <a:p>
            <a:pPr algn="l" indent="0" marL="0">
              <a:buNone/>
            </a:pPr>
            <a:r>
              <a:rPr lang="en-US" sz="4000" b="1" dirty="0">
                <a:solidFill>
                  <a:schemeClr val="bg1"/>
                </a:solidFill>
              </a:rPr>
              <a:t>One database now answers what three registers could not</a:t>
            </a:r>
            <a:endParaRPr lang="en-US" sz="4000" dirty="0"/>
          </a:p>
        </p:txBody>
      </p:sp>
      <p:sp>
        <p:nvSpPr>
          <p:cNvPr id="4" name="Text 1"/>
          <p:cNvSpPr txBox="1"/>
          <p:nvPr/>
        </p:nvSpPr>
        <p:spPr>
          <a:xfrm>
            <a:off x="640080" y="3886200"/>
            <a:ext cx="5029200" cy="320040"/>
          </a:xfrm>
          <a:prstGeom prst="rect">
            <a:avLst/>
          </a:prstGeom>
          <a:noFill/>
          <a:ln/>
        </p:spPr>
        <p:txBody>
          <a:bodyPr wrap="square" lIns="0" tIns="0" rIns="0" bIns="0" rtlCol="0" anchor="t"/>
          <a:lstStyle/>
          <a:p>
            <a:pPr indent="0" marL="0">
              <a:buNone/>
            </a:pPr>
            <a:r>
              <a:rPr lang="en-US" sz="1300" b="1" spc="100" kern="0" dirty="0">
                <a:solidFill>
                  <a:schemeClr val="accent1"/>
                </a:solidFill>
              </a:rPr>
              <a:t>What we built</a:t>
            </a:r>
            <a:endParaRPr lang="en-US" sz="1300" dirty="0"/>
          </a:p>
        </p:txBody>
      </p:sp>
      <p:sp>
        <p:nvSpPr>
          <p:cNvPr id="5" name="Text 2"/>
          <p:cNvSpPr txBox="1"/>
          <p:nvPr/>
        </p:nvSpPr>
        <p:spPr>
          <a:xfrm>
            <a:off x="640080" y="4251960"/>
            <a:ext cx="5120640" cy="1828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bg1"/>
                </a:solidFill>
              </a:rPr>
              <a:t>ER design mapped to 7 tables in 3NF</a:t>
            </a:r>
            <a:endParaRPr lang="en-US" sz="1500" dirty="0"/>
          </a:p>
          <a:p>
            <a:pPr marL="342900" indent="-342900">
              <a:spcAft>
                <a:spcPts val="700"/>
              </a:spcAft>
              <a:buSzPct val="100000"/>
              <a:buChar char="•"/>
            </a:pPr>
            <a:r>
              <a:rPr lang="en-US" sz="1500" dirty="0">
                <a:solidFill>
                  <a:schemeClr val="bg1"/>
                </a:solidFill>
              </a:rPr>
              <a:t>Keys and 25 UNIQUE / CHECK / FK constraints</a:t>
            </a:r>
            <a:endParaRPr lang="en-US" sz="1500" dirty="0"/>
          </a:p>
          <a:p>
            <a:pPr marL="342900" indent="-342900">
              <a:spcAft>
                <a:spcPts val="700"/>
              </a:spcAft>
              <a:buSzPct val="100000"/>
              <a:buChar char="•"/>
            </a:pPr>
            <a:r>
              <a:rPr lang="en-US" sz="1500" dirty="0">
                <a:solidFill>
                  <a:schemeClr val="bg1"/>
                </a:solidFill>
              </a:rPr>
              <a:t>15 queries: joins, aggregates, subqueries, a view</a:t>
            </a:r>
            <a:endParaRPr lang="en-US" sz="1500" dirty="0"/>
          </a:p>
          <a:p>
            <a:pPr marL="342900" indent="-342900">
              <a:spcAft>
                <a:spcPts val="700"/>
              </a:spcAft>
              <a:buSzPct val="100000"/>
              <a:buChar char="•"/>
            </a:pPr>
            <a:r>
              <a:rPr lang="en-US" sz="1500" dirty="0">
                <a:solidFill>
                  <a:schemeClr val="bg1"/>
                </a:solidFill>
              </a:rPr>
              <a:t>Flask UI for insert, delete and view</a:t>
            </a:r>
            <a:endParaRPr lang="en-US" sz="1500" dirty="0"/>
          </a:p>
        </p:txBody>
      </p:sp>
      <p:sp>
        <p:nvSpPr>
          <p:cNvPr id="6" name="Text 3"/>
          <p:cNvSpPr txBox="1"/>
          <p:nvPr/>
        </p:nvSpPr>
        <p:spPr>
          <a:xfrm>
            <a:off x="6217920" y="3886200"/>
            <a:ext cx="5029200" cy="320040"/>
          </a:xfrm>
          <a:prstGeom prst="rect">
            <a:avLst/>
          </a:prstGeom>
          <a:noFill/>
          <a:ln/>
        </p:spPr>
        <p:txBody>
          <a:bodyPr wrap="square" lIns="0" tIns="0" rIns="0" bIns="0" rtlCol="0" anchor="t"/>
          <a:lstStyle/>
          <a:p>
            <a:pPr indent="0" marL="0">
              <a:buNone/>
            </a:pPr>
            <a:r>
              <a:rPr lang="en-US" sz="1300" b="1" spc="100" kern="0" dirty="0">
                <a:solidFill>
                  <a:schemeClr val="accent1"/>
                </a:solidFill>
              </a:rPr>
              <a:t>Future enhancements</a:t>
            </a:r>
            <a:endParaRPr lang="en-US" sz="1300" dirty="0"/>
          </a:p>
        </p:txBody>
      </p:sp>
      <p:sp>
        <p:nvSpPr>
          <p:cNvPr id="7" name="Text 4"/>
          <p:cNvSpPr txBox="1"/>
          <p:nvPr/>
        </p:nvSpPr>
        <p:spPr>
          <a:xfrm>
            <a:off x="6217920" y="4251960"/>
            <a:ext cx="5120640" cy="1828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bg1"/>
                </a:solidFill>
              </a:rPr>
              <a:t>Login with staff, trainer and member roles</a:t>
            </a:r>
            <a:endParaRPr lang="en-US" sz="1500" dirty="0"/>
          </a:p>
          <a:p>
            <a:pPr marL="342900" indent="-342900">
              <a:spcAft>
                <a:spcPts val="700"/>
              </a:spcAft>
              <a:buSzPct val="100000"/>
              <a:buChar char="•"/>
            </a:pPr>
            <a:r>
              <a:rPr lang="en-US" sz="1500" dirty="0">
                <a:solidFill>
                  <a:schemeClr val="bg1"/>
                </a:solidFill>
              </a:rPr>
              <a:t>MySQL event to mark expired memberships</a:t>
            </a:r>
            <a:endParaRPr lang="en-US" sz="1500" dirty="0"/>
          </a:p>
          <a:p>
            <a:pPr marL="342900" indent="-342900">
              <a:spcAft>
                <a:spcPts val="700"/>
              </a:spcAft>
              <a:buSzPct val="100000"/>
              <a:buChar char="•"/>
            </a:pPr>
            <a:r>
              <a:rPr lang="en-US" sz="1500" dirty="0">
                <a:solidFill>
                  <a:schemeClr val="bg1"/>
                </a:solidFill>
              </a:rPr>
              <a:t>Trigger to stop bookings beyond capacity</a:t>
            </a:r>
            <a:endParaRPr lang="en-US" sz="1500" dirty="0"/>
          </a:p>
          <a:p>
            <a:pPr marL="342900" indent="-342900">
              <a:spcAft>
                <a:spcPts val="700"/>
              </a:spcAft>
              <a:buSzPct val="100000"/>
              <a:buChar char="•"/>
            </a:pPr>
            <a:r>
              <a:rPr lang="en-US" sz="1500" dirty="0">
                <a:solidFill>
                  <a:schemeClr val="bg1"/>
                </a:solidFill>
              </a:rPr>
              <a:t>Online fee payment and renewal reminders</a:t>
            </a:r>
            <a:endParaRPr lang="en-US" sz="1500" dirty="0"/>
          </a:p>
        </p:txBody>
      </p:sp>
      <p:sp>
        <p:nvSpPr>
          <p:cNvPr id="8" name="Shape 5"/>
          <p:cNvSpPr/>
          <p:nvPr/>
        </p:nvSpPr>
        <p:spPr>
          <a:xfrm>
            <a:off x="9692640" y="1325880"/>
            <a:ext cx="1874520" cy="548640"/>
          </a:xfrm>
          <a:prstGeom prst="roundRect">
            <a:avLst>
              <a:gd name="adj" fmla="val 50000"/>
            </a:avLst>
          </a:prstGeom>
          <a:solidFill>
            <a:schemeClr val="accent1"/>
          </a:solidFill>
          <a:ln w="12700">
            <a:solidFill>
              <a:schemeClr val="accent1"/>
            </a:solidFill>
            <a:prstDash val="solid"/>
          </a:ln>
        </p:spPr>
      </p:sp>
      <p:sp>
        <p:nvSpPr>
          <p:cNvPr id="9" name="Text 6"/>
          <p:cNvSpPr txBox="1"/>
          <p:nvPr/>
        </p:nvSpPr>
        <p:spPr>
          <a:xfrm>
            <a:off x="9692640" y="1325880"/>
            <a:ext cx="1874520" cy="548640"/>
          </a:xfrm>
          <a:prstGeom prst="rect">
            <a:avLst/>
          </a:prstGeom>
          <a:noFill/>
          <a:ln/>
        </p:spPr>
        <p:txBody>
          <a:bodyPr wrap="square" lIns="0" tIns="0" rIns="0" bIns="0" rtlCol="0" anchor="ctr"/>
          <a:lstStyle/>
          <a:p>
            <a:pPr algn="ctr" indent="0" marL="0">
              <a:buNone/>
            </a:pPr>
            <a:r>
              <a:rPr lang="en-US" sz="1700" b="1" dirty="0">
                <a:solidFill>
                  <a:schemeClr val="bg1"/>
                </a:solidFill>
              </a:rPr>
              <a:t>Questions?</a:t>
            </a:r>
            <a:endParaRPr lang="en-US" sz="1700" dirty="0"/>
          </a:p>
        </p:txBody>
      </p:sp>
    </p:spTree>
  </p:cSld>
  <p:clrMapOvr>
    <a:masterClrMapping/>
  </p:clrMapOvr>
</p:sld>
</file>

<file path=ppt/theme/theme1.xml><?xml version="1.0" encoding="utf-8"?>
<a:theme xmlns:a="http://schemas.openxmlformats.org/drawingml/2006/main" name="FitZone">
  <a:themeElements>
    <a:clrScheme name="FitZone">
      <a:dk1>
        <a:srgbClr val="12161C"/>
      </a:dk1>
      <a:lt1>
        <a:srgbClr val="FFFFFF"/>
      </a:lt1>
      <a:dk2>
        <a:srgbClr val="4A525E"/>
      </a:dk2>
      <a:lt2>
        <a:srgbClr val="F4F5F2"/>
      </a:lt2>
      <a:accent1>
        <a:srgbClr val="E8501A"/>
      </a:accent1>
      <a:accent2>
        <a:srgbClr val="1F7A4D"/>
      </a:accent2>
      <a:accent3>
        <a:srgbClr val="68707C"/>
      </a:accent3>
      <a:accent4>
        <a:srgbClr val="C23F10"/>
      </a:accent4>
      <a:accent5>
        <a:srgbClr val="E1E4DE"/>
      </a:accent5>
      <a:accent6>
        <a:srgbClr val="FDEADF"/>
      </a:accent6>
      <a:hlink>
        <a:srgbClr val="C23F10"/>
      </a:hlink>
      <a:folHlink>
        <a:srgbClr val="68707C"/>
      </a:folHlink>
    </a:clrScheme>
    <a:fontScheme name="FitZo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 Membership and Fitness Session Management System</dc:title>
  <dc:subject>PptxGenJS Presentation</dc:subject>
  <dc:creator>Sai Nihal Nellore</dc:creator>
  <cp:lastModifiedBy>Sai Nihal Nellore</cp:lastModifiedBy>
  <cp:revision>1</cp:revision>
  <dcterms:created xsi:type="dcterms:W3CDTF">2026-10-06T17:18:05Z</dcterms:created>
  <dcterms:modified xsi:type="dcterms:W3CDTF">2026-10-06T17:18:05Z</dcterms:modified>
</cp:coreProperties>
</file>